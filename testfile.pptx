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1764" r:id="rId2"/>
    <p:sldId id="312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>
        <p:scale>
          <a:sx n="125" d="100"/>
          <a:sy n="125" d="100"/>
        </p:scale>
        <p:origin x="6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84C6A-0DFC-4760-B09C-496447493030}" type="datetimeFigureOut">
              <a:rPr lang="de-DE" smtClean="0"/>
              <a:t>23.03.2024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732265-92EB-4618-8C47-2BE3C9E4F7A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246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3E7B9AAA-CCBA-2C8A-5ADD-94026110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>
            <a:extLst>
              <a:ext uri="{FF2B5EF4-FFF2-40B4-BE49-F238E27FC236}">
                <a16:creationId xmlns:a16="http://schemas.microsoft.com/office/drawing/2014/main" id="{4318A1F1-B013-5FDD-6C67-8D4976F101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lang="de-DE" altLang="de-DE" sz="1400" b="0" i="0" u="none" strike="noStrike" cap="none" baseline="0" dirty="0">
                <a:solidFill>
                  <a:srgbClr val="000000"/>
                </a:solidFill>
                <a:effectLst/>
                <a:latin typeface="Calibri"/>
                <a:cs typeface="Calibri"/>
                <a:sym typeface="Calibri"/>
              </a:rPr>
              <a:t>V. Vermarktung/ Umsetzung mit </a:t>
            </a:r>
            <a:r>
              <a:rPr lang="de-DE" altLang="de-DE" sz="1400" dirty="0">
                <a:solidFill>
                  <a:schemeClr val="bg1"/>
                </a:solidFill>
              </a:rPr>
              <a:t>Vorbereitung der Roadshow-Präsentation für Investoren, </a:t>
            </a:r>
            <a:r>
              <a:rPr lang="de-DE" altLang="de-DE" sz="1400" dirty="0" err="1">
                <a:solidFill>
                  <a:schemeClr val="bg1"/>
                </a:solidFill>
              </a:rPr>
              <a:t>Pre</a:t>
            </a:r>
            <a:r>
              <a:rPr lang="de-DE" altLang="de-DE" sz="1400" dirty="0">
                <a:solidFill>
                  <a:schemeClr val="bg1"/>
                </a:solidFill>
              </a:rPr>
              <a:t>-Marketing, Start der Transaktion,</a:t>
            </a:r>
            <a:r>
              <a:rPr lang="de-DE" altLang="de-DE" sz="1400" baseline="0" dirty="0">
                <a:solidFill>
                  <a:schemeClr val="bg1"/>
                </a:solidFill>
              </a:rPr>
              <a:t> Besuch der Investoren im Rahmen der </a:t>
            </a:r>
            <a:r>
              <a:rPr lang="de-DE" altLang="de-DE" sz="1400" dirty="0">
                <a:solidFill>
                  <a:schemeClr val="bg1"/>
                </a:solidFill>
              </a:rPr>
              <a:t>Roadshow, Bookbuilding, Pricing der Anleihe und Closing. Hierfür sollte ein Zeitraum</a:t>
            </a:r>
            <a:r>
              <a:rPr lang="de-DE" altLang="de-DE" sz="1400" baseline="0" dirty="0">
                <a:solidFill>
                  <a:schemeClr val="bg1"/>
                </a:solidFill>
              </a:rPr>
              <a:t> von 6 Wochen vorgesehen werden.</a:t>
            </a: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AutoNum type="romanUcPeriod"/>
              <a:tabLst/>
              <a:defRPr/>
            </a:pPr>
            <a:endParaRPr lang="de-DE" altLang="de-DE" sz="1400" baseline="0" dirty="0">
              <a:solidFill>
                <a:schemeClr val="bg1"/>
              </a:solidFill>
            </a:endParaRP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AutoNum type="romanUcPeriod"/>
              <a:tabLst/>
              <a:defRPr/>
            </a:pPr>
            <a:endParaRPr lang="de-DE" altLang="de-DE" sz="1400" baseline="0" dirty="0">
              <a:solidFill>
                <a:schemeClr val="bg1"/>
              </a:solidFill>
            </a:endParaRP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AutoNum type="romanUcPeriod"/>
              <a:tabLst/>
              <a:defRPr/>
            </a:pPr>
            <a:endParaRPr lang="de-DE" altLang="de-DE" sz="1400" baseline="0" dirty="0">
              <a:solidFill>
                <a:schemeClr val="bg1"/>
              </a:solidFill>
            </a:endParaRP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AutoNum type="romanUcPeriod"/>
              <a:tabLst/>
              <a:defRPr/>
            </a:pPr>
            <a:endParaRPr lang="de-DE" altLang="de-DE" sz="1400" baseline="0" dirty="0">
              <a:solidFill>
                <a:schemeClr val="bg1"/>
              </a:solidFill>
            </a:endParaRP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AutoNum type="romanUcPeriod"/>
              <a:tabLst/>
              <a:defRPr/>
            </a:pPr>
            <a:endParaRPr lang="de-DE" altLang="de-DE" sz="1400" baseline="0" dirty="0">
              <a:solidFill>
                <a:schemeClr val="bg1"/>
              </a:solidFill>
            </a:endParaRP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AutoNum type="romanUcPeriod"/>
              <a:tabLst/>
              <a:defRPr/>
            </a:pPr>
            <a:endParaRPr lang="de-DE" altLang="de-DE" sz="1400" baseline="0" dirty="0">
              <a:solidFill>
                <a:schemeClr val="bg1"/>
              </a:solidFill>
            </a:endParaRP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AutoNum type="romanUcPeriod"/>
              <a:tabLst/>
              <a:defRPr/>
            </a:pPr>
            <a:endParaRPr lang="de-DE" altLang="de-DE" sz="1400" baseline="0" dirty="0">
              <a:solidFill>
                <a:schemeClr val="bg1"/>
              </a:solidFill>
            </a:endParaRP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AutoNum type="romanUcPeriod"/>
              <a:tabLst/>
              <a:defRPr/>
            </a:pPr>
            <a:endParaRPr lang="de-DE" altLang="de-DE" sz="1400" baseline="0" dirty="0">
              <a:solidFill>
                <a:schemeClr val="bg1"/>
              </a:solidFill>
            </a:endParaRP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AutoNum type="romanUcPeriod"/>
              <a:tabLst/>
              <a:defRPr/>
            </a:pPr>
            <a:endParaRPr lang="de-DE" altLang="de-DE" sz="1400" baseline="0" dirty="0">
              <a:solidFill>
                <a:schemeClr val="bg1"/>
              </a:solidFill>
            </a:endParaRP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AutoNum type="romanUcPeriod"/>
              <a:tabLst/>
              <a:defRPr/>
            </a:pPr>
            <a:endParaRPr lang="de-DE" altLang="de-DE" sz="1400" dirty="0">
              <a:solidFill>
                <a:schemeClr val="bg1"/>
              </a:solidFill>
            </a:endParaRPr>
          </a:p>
        </p:txBody>
      </p:sp>
      <p:sp>
        <p:nvSpPr>
          <p:cNvPr id="137" name="Google Shape;137;p9:notes">
            <a:extLst>
              <a:ext uri="{FF2B5EF4-FFF2-40B4-BE49-F238E27FC236}">
                <a16:creationId xmlns:a16="http://schemas.microsoft.com/office/drawing/2014/main" id="{F6B48E41-50A7-F105-E46D-E5C9FA583F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4418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de-DE" sz="1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Mittelstandsanleihen haben sich als </a:t>
            </a:r>
            <a:r>
              <a:rPr lang="de-DE" sz="1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Alternative zum Bankkredit </a:t>
            </a:r>
            <a:r>
              <a:rPr lang="de-DE" sz="1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etabliert</a:t>
            </a:r>
            <a:r>
              <a:rPr lang="de-DE" sz="1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de-DE" sz="1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Der Markt für diese Art von Anleihe hat eine </a:t>
            </a:r>
            <a:r>
              <a:rPr lang="de-DE" sz="1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bewegte Vergangenheit.</a:t>
            </a:r>
            <a:endParaRPr lang="de-DE" sz="1400" dirty="0">
              <a:solidFill>
                <a:schemeClr val="accent1"/>
              </a:solidFill>
              <a:latin typeface="Frutiger 55 Roman" panose="02000503040000020004" pitchFamily="2" charset="0"/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de-DE" sz="1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Ob Mittelstandsanleihen positiv oder negativ sind, ist allein aus dem </a:t>
            </a:r>
            <a:r>
              <a:rPr lang="de-DE" sz="1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Blickwinkel des emittierenden Unternehmens </a:t>
            </a:r>
            <a:r>
              <a:rPr lang="de-DE" sz="1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zu beurteilen.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de-DE" sz="1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Auf jeden Fall stellt die </a:t>
            </a:r>
            <a:r>
              <a:rPr lang="de-DE" sz="1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zusätzliche Alternative durch Mittelstandsanleihen </a:t>
            </a:r>
            <a:r>
              <a:rPr lang="de-DE" sz="1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für Unternehmen ein </a:t>
            </a:r>
            <a:r>
              <a:rPr lang="de-DE" sz="1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Positivum </a:t>
            </a:r>
            <a:r>
              <a:rPr lang="de-DE" sz="1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dar</a:t>
            </a:r>
            <a:r>
              <a:rPr lang="de-DE" sz="1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.</a:t>
            </a:r>
            <a:endParaRPr lang="de-DE" sz="1400" dirty="0">
              <a:solidFill>
                <a:schemeClr val="accent1"/>
              </a:solidFill>
              <a:latin typeface="Frutiger 55 Roman" panose="02000503040000020004" pitchFamily="2" charset="0"/>
            </a:endParaRPr>
          </a:p>
        </p:txBody>
      </p:sp>
      <p:sp>
        <p:nvSpPr>
          <p:cNvPr id="433" name="Google Shape;43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7013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8B84C-4644-4A9C-AAAB-32F1A8421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54868-D3ED-4EBF-988F-D3404E8FA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12734-E16C-4126-8A94-75F5D754C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89F8-DEEE-4346-9408-209FB9D1254E}" type="datetimeFigureOut">
              <a:rPr lang="de-DE" smtClean="0"/>
              <a:t>23.03.2024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C61DE-175E-4B09-AF7A-75648D81E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6395B-5021-4DAD-8218-BBFCFD10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7530-12BA-4069-A4E3-1D28D35E9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4952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9206-52B7-4544-AA9C-A7B691486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01D75-CD27-41C7-B677-1A50D8CFB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6C08B-5B30-4EC1-9F4D-E8D2F1F73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89F8-DEEE-4346-9408-209FB9D1254E}" type="datetimeFigureOut">
              <a:rPr lang="de-DE" smtClean="0"/>
              <a:t>23.03.2024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85891-B0FE-4518-9418-9189F4B31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F67A5-AF9B-4EEB-A621-51F86B75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7530-12BA-4069-A4E3-1D28D35E9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7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69C4-9CA2-4BCF-8D90-78F3BD930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AFA50-0E44-4FF0-9762-54C6846CA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289C9-47F6-4679-B46A-7B4698365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89F8-DEEE-4346-9408-209FB9D1254E}" type="datetimeFigureOut">
              <a:rPr lang="de-DE" smtClean="0"/>
              <a:t>23.03.2024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8B958-D990-4AA5-A9F7-B209A9C6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DD2D0-FF97-4D38-A5DC-A3210CD2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7530-12BA-4069-A4E3-1D28D35E9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9405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A6783-72DF-4283-A98C-D0BBB7085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05761-2020-43F8-B781-2AF15A0FCC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D9357-E46C-48B8-A285-094E197F5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CEF21-8568-4203-A7F3-D10DA7A79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89F8-DEEE-4346-9408-209FB9D1254E}" type="datetimeFigureOut">
              <a:rPr lang="de-DE" smtClean="0"/>
              <a:t>23.03.2024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E5ABC-C316-4A42-B5CD-D3F84D7B2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F11AF-EF2B-4878-8E68-E42FBE7F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7530-12BA-4069-A4E3-1D28D35E9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291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F9E29-9BD0-47C5-A212-CEB335247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2DD0E-ED9C-485C-B70D-7C29BC9AB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7B18B-5BA8-4D5B-A316-57AC6FF08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549E3-7440-4C28-8EE7-618D2CA1B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DF9CF9-A5DB-42B8-9945-EF747E0FB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F00F8D-01CD-445D-8261-5065E6126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89F8-DEEE-4346-9408-209FB9D1254E}" type="datetimeFigureOut">
              <a:rPr lang="de-DE" smtClean="0"/>
              <a:t>23.03.2024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D1776D-9ADE-4AF9-8909-1F2D1F3C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BEB6B-D1F0-4115-9054-1FC20E1B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7530-12BA-4069-A4E3-1D28D35E9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1359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7E57-2FC6-41AD-9F60-14582279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12D14B-FA23-42CD-A8D2-4DA72C9B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89F8-DEEE-4346-9408-209FB9D1254E}" type="datetimeFigureOut">
              <a:rPr lang="de-DE" smtClean="0"/>
              <a:t>23.03.2024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F87F33-2AEF-4161-B5BA-EDC01AC4A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C42113-5A3D-4079-9336-9D49F4CA3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7530-12BA-4069-A4E3-1D28D35E9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8400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501C7B-BE2E-4EE9-83A3-E87D62A42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89F8-DEEE-4346-9408-209FB9D1254E}" type="datetimeFigureOut">
              <a:rPr lang="de-DE" smtClean="0"/>
              <a:t>23.03.2024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9800C-AFB0-4887-8459-AB9B372B3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7C4E2-7F4C-4DC5-AA02-6AE8EEAA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7530-12BA-4069-A4E3-1D28D35E9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3539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32E4C-6E97-42B2-86A5-5F79D07B6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FEEF6-F1C8-4BFD-A57E-207969CC4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0196F-5952-475E-A247-975782B32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24FEA-CA17-4289-A812-22155EAB9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89F8-DEEE-4346-9408-209FB9D1254E}" type="datetimeFigureOut">
              <a:rPr lang="de-DE" smtClean="0"/>
              <a:t>23.03.2024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EC13A-5C46-4E62-B3B9-12D19128D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7D8E0-1152-43EF-8BE6-43A19EC9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7530-12BA-4069-A4E3-1D28D35E9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1964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EC1-B2D1-4995-8475-229740CC5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E148B3-F6E4-4A4E-A31D-819352BD6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59060-73A4-4DDD-A23D-441222EE2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C2D06-AB92-4BAE-8B19-477E9F5E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89F8-DEEE-4346-9408-209FB9D1254E}" type="datetimeFigureOut">
              <a:rPr lang="de-DE" smtClean="0"/>
              <a:t>23.03.2024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F9E17-568F-43D1-88E0-B276BDA2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2EEE2-EAC1-47C8-8045-DFA690A52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7530-12BA-4069-A4E3-1D28D35E9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6276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A3816-6F09-480E-9689-8A4FDE156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D2A6E-351D-4FD5-8C45-DFF017C7D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79034-AA8F-4D28-9F91-897516F4D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89F8-DEEE-4346-9408-209FB9D1254E}" type="datetimeFigureOut">
              <a:rPr lang="de-DE" smtClean="0"/>
              <a:t>23.03.2024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CE7E9-7BE2-4E2C-A01E-33FC000F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02092-CF89-4FB4-9EB9-73DE6FB5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7530-12BA-4069-A4E3-1D28D35E9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072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1EA850-860B-458F-95A7-8A6DEFCCB9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90046-99C7-4BBA-B3F4-1049534A4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5FFE5-B813-4EED-AD2C-C396E478A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89F8-DEEE-4346-9408-209FB9D1254E}" type="datetimeFigureOut">
              <a:rPr lang="de-DE" smtClean="0"/>
              <a:t>23.03.2024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2A872-4FBA-41C4-9EBE-B7E3E1D6D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41849-AB88-450E-A0A7-4186EC14B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7530-12BA-4069-A4E3-1D28D35E9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9470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eere Seite">
  <p:cSld name="Leere Seit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5"/>
          <p:cNvSpPr txBox="1"/>
          <p:nvPr/>
        </p:nvSpPr>
        <p:spPr>
          <a:xfrm>
            <a:off x="47312" y="6640168"/>
            <a:ext cx="741653" cy="20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Modulmarke</a:t>
            </a:r>
            <a:endParaRPr/>
          </a:p>
        </p:txBody>
      </p:sp>
      <p:sp>
        <p:nvSpPr>
          <p:cNvPr id="30" name="Google Shape;30;p45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7946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Zusammenfassung">
  <p:cSld name="Zusammenfassung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7"/>
          <p:cNvSpPr txBox="1"/>
          <p:nvPr/>
        </p:nvSpPr>
        <p:spPr>
          <a:xfrm>
            <a:off x="47312" y="6640168"/>
            <a:ext cx="741653" cy="20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Modulmarke</a:t>
            </a:r>
            <a:endParaRPr/>
          </a:p>
        </p:txBody>
      </p:sp>
      <p:grpSp>
        <p:nvGrpSpPr>
          <p:cNvPr id="39" name="Google Shape;39;p47"/>
          <p:cNvGrpSpPr/>
          <p:nvPr/>
        </p:nvGrpSpPr>
        <p:grpSpPr>
          <a:xfrm>
            <a:off x="0" y="-2"/>
            <a:ext cx="12192000" cy="1052740"/>
            <a:chOff x="0" y="-1"/>
            <a:chExt cx="12192000" cy="1052738"/>
          </a:xfrm>
        </p:grpSpPr>
        <p:sp>
          <p:nvSpPr>
            <p:cNvPr id="40" name="Google Shape;40;p47"/>
            <p:cNvSpPr/>
            <p:nvPr/>
          </p:nvSpPr>
          <p:spPr>
            <a:xfrm>
              <a:off x="0" y="-1"/>
              <a:ext cx="12192000" cy="1052738"/>
            </a:xfrm>
            <a:prstGeom prst="rect">
              <a:avLst/>
            </a:prstGeom>
            <a:solidFill>
              <a:srgbClr val="FCD8EA"/>
            </a:solidFill>
            <a:ln>
              <a:noFill/>
            </a:ln>
          </p:spPr>
          <p:txBody>
            <a:bodyPr spcFirstLastPara="1" wrap="square" lIns="179975" tIns="179975" rIns="179975" bIns="1799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endPara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47"/>
            <p:cNvSpPr txBox="1"/>
            <p:nvPr/>
          </p:nvSpPr>
          <p:spPr>
            <a:xfrm>
              <a:off x="0" y="38988"/>
              <a:ext cx="12192000" cy="974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9975" tIns="179975" rIns="179975" bIns="17997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4800"/>
                <a:buFont typeface="Calibri"/>
                <a:buNone/>
              </a:pPr>
              <a:r>
                <a:rPr lang="en-US" sz="48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Zusammenfassung</a:t>
              </a:r>
              <a:endParaRPr/>
            </a:p>
          </p:txBody>
        </p:sp>
      </p:grpSp>
      <p:sp>
        <p:nvSpPr>
          <p:cNvPr id="42" name="Google Shape;42;p47"/>
          <p:cNvSpPr/>
          <p:nvPr/>
        </p:nvSpPr>
        <p:spPr>
          <a:xfrm>
            <a:off x="0" y="1052735"/>
            <a:ext cx="12192000" cy="5805266"/>
          </a:xfrm>
          <a:prstGeom prst="rect">
            <a:avLst/>
          </a:prstGeom>
          <a:solidFill>
            <a:srgbClr val="F58BC0"/>
          </a:solidFill>
          <a:ln>
            <a:noFill/>
          </a:ln>
        </p:spPr>
        <p:txBody>
          <a:bodyPr spcFirstLastPara="1" wrap="square" lIns="179975" tIns="179975" rIns="179975" bIns="1799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endParaRPr sz="21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7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3681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F657A7-3C1F-4432-B666-0AD2A736F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1A6B3-E0F6-441A-AD1F-58345D0BC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9CAE5-021D-4781-81C6-26EC4E160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089F8-DEEE-4346-9408-209FB9D1254E}" type="datetimeFigureOut">
              <a:rPr lang="de-DE" smtClean="0"/>
              <a:t>23.03.2024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B5C7C-ED75-4F93-88C1-EA3158B63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B8514-46C9-4A0C-9B9F-6E3E33546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57530-12BA-4069-A4E3-1D28D35E9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590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6288BAD4-AE06-FC57-C845-E2D67C89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6">
            <a:extLst>
              <a:ext uri="{FF2B5EF4-FFF2-40B4-BE49-F238E27FC236}">
                <a16:creationId xmlns:a16="http://schemas.microsoft.com/office/drawing/2014/main" id="{703B5BB8-9511-92C6-54C0-4380B6DA1CE5}"/>
              </a:ext>
            </a:extLst>
          </p:cNvPr>
          <p:cNvSpPr/>
          <p:nvPr/>
        </p:nvSpPr>
        <p:spPr>
          <a:xfrm>
            <a:off x="0" y="0"/>
            <a:ext cx="12420600" cy="6858000"/>
          </a:xfrm>
          <a:custGeom>
            <a:avLst/>
            <a:gdLst>
              <a:gd name="connsiteX0" fmla="*/ 0 w 9969500"/>
              <a:gd name="connsiteY0" fmla="*/ 0 h 6858000"/>
              <a:gd name="connsiteX1" fmla="*/ 9969500 w 9969500"/>
              <a:gd name="connsiteY1" fmla="*/ 0 h 6858000"/>
              <a:gd name="connsiteX2" fmla="*/ 9969500 w 9969500"/>
              <a:gd name="connsiteY2" fmla="*/ 6858000 h 6858000"/>
              <a:gd name="connsiteX3" fmla="*/ 0 w 9969500"/>
              <a:gd name="connsiteY3" fmla="*/ 6858000 h 6858000"/>
              <a:gd name="connsiteX4" fmla="*/ 0 w 9969500"/>
              <a:gd name="connsiteY4" fmla="*/ 0 h 6858000"/>
              <a:gd name="connsiteX0" fmla="*/ 0 w 9969500"/>
              <a:gd name="connsiteY0" fmla="*/ 0 h 6858000"/>
              <a:gd name="connsiteX1" fmla="*/ 9969500 w 9969500"/>
              <a:gd name="connsiteY1" fmla="*/ 0 h 6858000"/>
              <a:gd name="connsiteX2" fmla="*/ 8540750 w 9969500"/>
              <a:gd name="connsiteY2" fmla="*/ 6858000 h 6858000"/>
              <a:gd name="connsiteX3" fmla="*/ 0 w 9969500"/>
              <a:gd name="connsiteY3" fmla="*/ 6858000 h 6858000"/>
              <a:gd name="connsiteX4" fmla="*/ 0 w 99695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69500" h="6858000">
                <a:moveTo>
                  <a:pt x="0" y="0"/>
                </a:moveTo>
                <a:lnTo>
                  <a:pt x="9969500" y="0"/>
                </a:lnTo>
                <a:lnTo>
                  <a:pt x="854075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0E57D37E-4547-5F97-8583-EADCD1A83785}"/>
              </a:ext>
            </a:extLst>
          </p:cNvPr>
          <p:cNvGrpSpPr/>
          <p:nvPr/>
        </p:nvGrpSpPr>
        <p:grpSpPr>
          <a:xfrm>
            <a:off x="240136" y="1309447"/>
            <a:ext cx="9433048" cy="5051078"/>
            <a:chOff x="251880" y="1650490"/>
            <a:chExt cx="9433048" cy="5051078"/>
          </a:xfrm>
        </p:grpSpPr>
        <p:sp>
          <p:nvSpPr>
            <p:cNvPr id="8" name="Text Box 88">
              <a:extLst>
                <a:ext uri="{FF2B5EF4-FFF2-40B4-BE49-F238E27FC236}">
                  <a16:creationId xmlns:a16="http://schemas.microsoft.com/office/drawing/2014/main" id="{360FE11F-1648-B6C3-7758-D8CF3055D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1585" y="1656395"/>
              <a:ext cx="2845500" cy="432000"/>
            </a:xfrm>
            <a:prstGeom prst="rect">
              <a:avLst/>
            </a:prstGeom>
            <a:solidFill>
              <a:srgbClr val="F6AB26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Event</a:t>
              </a:r>
            </a:p>
          </p:txBody>
        </p:sp>
        <p:sp>
          <p:nvSpPr>
            <p:cNvPr id="9" name="Text Box 88">
              <a:extLst>
                <a:ext uri="{FF2B5EF4-FFF2-40B4-BE49-F238E27FC236}">
                  <a16:creationId xmlns:a16="http://schemas.microsoft.com/office/drawing/2014/main" id="{41F9864E-40D9-335B-CD5E-0A0969EBE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202" y="1656395"/>
              <a:ext cx="1052824" cy="432000"/>
            </a:xfrm>
            <a:prstGeom prst="rect">
              <a:avLst/>
            </a:prstGeom>
            <a:solidFill>
              <a:srgbClr val="75C2C4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Phase</a:t>
              </a:r>
            </a:p>
          </p:txBody>
        </p:sp>
        <p:sp>
          <p:nvSpPr>
            <p:cNvPr id="10" name="Rectangle 53">
              <a:extLst>
                <a:ext uri="{FF2B5EF4-FFF2-40B4-BE49-F238E27FC236}">
                  <a16:creationId xmlns:a16="http://schemas.microsoft.com/office/drawing/2014/main" id="{DDDD5CAF-6C37-24C9-3480-91A2B4FE6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275" y="2220459"/>
              <a:ext cx="2844810" cy="552060"/>
            </a:xfrm>
            <a:prstGeom prst="rect">
              <a:avLst/>
            </a:prstGeom>
            <a:solidFill>
              <a:srgbClr val="F8BF59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Mandatierung Underwriter / Rechtsanwalt / Wirtschaftsprüfer </a:t>
              </a:r>
            </a:p>
            <a:p>
              <a:pPr eaLnBrk="1" hangingPunct="1"/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Kick-off Meeting / Strukturbestimmung</a:t>
              </a: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FAE8ED7B-2C68-F05B-CCB7-D2F657A0B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1585" y="3624592"/>
              <a:ext cx="2845500" cy="696099"/>
            </a:xfrm>
            <a:prstGeom prst="rect">
              <a:avLst/>
            </a:prstGeom>
            <a:solidFill>
              <a:srgbClr val="F8BF59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Erstellung der Ratingpräsentation</a:t>
              </a:r>
            </a:p>
            <a:p>
              <a:pPr eaLnBrk="1" hangingPunct="1"/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Vorstellung </a:t>
              </a:r>
              <a:r>
                <a:rPr lang="de-DE" altLang="de-DE" sz="10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bei</a:t>
              </a:r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 Agenturen</a:t>
              </a:r>
            </a:p>
            <a:p>
              <a:pPr eaLnBrk="1" hangingPunct="1"/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Q&amp;A</a:t>
              </a:r>
            </a:p>
            <a:p>
              <a:pPr eaLnBrk="1" hangingPunct="1"/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Erhalt der Ratingbestätigung</a:t>
              </a:r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79282E50-C049-4083-7620-A8B32B3A8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275" y="4464707"/>
              <a:ext cx="2844810" cy="747880"/>
            </a:xfrm>
            <a:prstGeom prst="rect">
              <a:avLst/>
            </a:prstGeom>
            <a:solidFill>
              <a:srgbClr val="F8BF59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Vorbereitung der Audits</a:t>
              </a:r>
            </a:p>
            <a:p>
              <a:pPr eaLnBrk="1" hangingPunct="1"/>
              <a:r>
                <a:rPr lang="de-DE" altLang="de-DE" sz="1000" dirty="0" err="1">
                  <a:solidFill>
                    <a:schemeClr val="accent1"/>
                  </a:solidFill>
                  <a:latin typeface="Frutiger 55 Roman" panose="02000503040000020004" pitchFamily="2" charset="0"/>
                </a:rPr>
                <a:t>Drafting</a:t>
              </a:r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 des Wertpapierprospekts</a:t>
              </a:r>
            </a:p>
            <a:p>
              <a:pPr eaLnBrk="1" hangingPunct="1"/>
              <a:r>
                <a:rPr lang="de-DE" altLang="de-DE" sz="1000" dirty="0" err="1">
                  <a:solidFill>
                    <a:schemeClr val="accent1"/>
                  </a:solidFill>
                  <a:latin typeface="Frutiger 55 Roman" panose="02000503040000020004" pitchFamily="2" charset="0"/>
                </a:rPr>
                <a:t>Drafting</a:t>
              </a:r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-Sessions</a:t>
              </a:r>
            </a:p>
            <a:p>
              <a:pPr eaLnBrk="1" hangingPunct="1"/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Vorbereitung weiterer rechtlicher Dokumente</a:t>
              </a:r>
            </a:p>
          </p:txBody>
        </p: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504687D3-6FD2-ABB6-C2B9-3C9297FD7D2E}"/>
                </a:ext>
              </a:extLst>
            </p:cNvPr>
            <p:cNvCxnSpPr/>
            <p:nvPr/>
          </p:nvCxnSpPr>
          <p:spPr bwMode="auto">
            <a:xfrm>
              <a:off x="535902" y="2844527"/>
              <a:ext cx="9149026" cy="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279BC660-8ABD-5F94-2B1F-67AF51FB03D3}"/>
                </a:ext>
              </a:extLst>
            </p:cNvPr>
            <p:cNvCxnSpPr/>
            <p:nvPr/>
          </p:nvCxnSpPr>
          <p:spPr bwMode="auto">
            <a:xfrm>
              <a:off x="535902" y="2160451"/>
              <a:ext cx="9149026" cy="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765E19FC-2CE7-D28F-B086-1E29544C777E}"/>
                </a:ext>
              </a:extLst>
            </p:cNvPr>
            <p:cNvCxnSpPr/>
            <p:nvPr/>
          </p:nvCxnSpPr>
          <p:spPr bwMode="auto">
            <a:xfrm>
              <a:off x="539983" y="3528603"/>
              <a:ext cx="9144945" cy="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7AF2CCDE-7997-C894-5151-0F10080F797A}"/>
                </a:ext>
              </a:extLst>
            </p:cNvPr>
            <p:cNvCxnSpPr/>
            <p:nvPr/>
          </p:nvCxnSpPr>
          <p:spPr bwMode="auto">
            <a:xfrm>
              <a:off x="582393" y="6497342"/>
              <a:ext cx="9102535" cy="0"/>
            </a:xfrm>
            <a:prstGeom prst="straightConnector1">
              <a:avLst/>
            </a:prstGeom>
            <a:ln w="12700">
              <a:solidFill>
                <a:schemeClr val="accent2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Text Box 88">
              <a:extLst>
                <a:ext uri="{FF2B5EF4-FFF2-40B4-BE49-F238E27FC236}">
                  <a16:creationId xmlns:a16="http://schemas.microsoft.com/office/drawing/2014/main" id="{5445FC54-95CC-7B10-49E6-9B3319062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6378" y="1656395"/>
              <a:ext cx="360040" cy="432000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1</a:t>
              </a:r>
            </a:p>
          </p:txBody>
        </p:sp>
        <p:sp>
          <p:nvSpPr>
            <p:cNvPr id="18" name="Text Box 88">
              <a:extLst>
                <a:ext uri="{FF2B5EF4-FFF2-40B4-BE49-F238E27FC236}">
                  <a16:creationId xmlns:a16="http://schemas.microsoft.com/office/drawing/2014/main" id="{914C07BD-CF9E-2E1C-60B1-896ADA8DAC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4430" y="1656395"/>
              <a:ext cx="360040" cy="432000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2</a:t>
              </a:r>
            </a:p>
          </p:txBody>
        </p:sp>
        <p:sp>
          <p:nvSpPr>
            <p:cNvPr id="19" name="Text Box 88">
              <a:extLst>
                <a:ext uri="{FF2B5EF4-FFF2-40B4-BE49-F238E27FC236}">
                  <a16:creationId xmlns:a16="http://schemas.microsoft.com/office/drawing/2014/main" id="{CAE4010D-0A70-4A41-6C2E-2990F9ACBB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2139" y="1656395"/>
              <a:ext cx="360040" cy="432000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3</a:t>
              </a:r>
            </a:p>
          </p:txBody>
        </p:sp>
        <p:sp>
          <p:nvSpPr>
            <p:cNvPr id="20" name="Text Box 88">
              <a:extLst>
                <a:ext uri="{FF2B5EF4-FFF2-40B4-BE49-F238E27FC236}">
                  <a16:creationId xmlns:a16="http://schemas.microsoft.com/office/drawing/2014/main" id="{CEDD7E73-3603-1F43-3145-4557B2CFF0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6785" y="1656395"/>
              <a:ext cx="360040" cy="432000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4</a:t>
              </a:r>
            </a:p>
          </p:txBody>
        </p:sp>
        <p:sp>
          <p:nvSpPr>
            <p:cNvPr id="21" name="Text Box 88">
              <a:extLst>
                <a:ext uri="{FF2B5EF4-FFF2-40B4-BE49-F238E27FC236}">
                  <a16:creationId xmlns:a16="http://schemas.microsoft.com/office/drawing/2014/main" id="{D36CA96C-B050-A017-9532-3C96729C1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4590" y="1656395"/>
              <a:ext cx="360040" cy="432000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5</a:t>
              </a:r>
            </a:p>
          </p:txBody>
        </p:sp>
        <p:sp>
          <p:nvSpPr>
            <p:cNvPr id="22" name="Text Box 88">
              <a:extLst>
                <a:ext uri="{FF2B5EF4-FFF2-40B4-BE49-F238E27FC236}">
                  <a16:creationId xmlns:a16="http://schemas.microsoft.com/office/drawing/2014/main" id="{9E33E679-54BD-157E-ADA4-40B3B4F6E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6638" y="1656395"/>
              <a:ext cx="360040" cy="432000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6</a:t>
              </a:r>
            </a:p>
          </p:txBody>
        </p:sp>
        <p:sp>
          <p:nvSpPr>
            <p:cNvPr id="23" name="Text Box 88">
              <a:extLst>
                <a:ext uri="{FF2B5EF4-FFF2-40B4-BE49-F238E27FC236}">
                  <a16:creationId xmlns:a16="http://schemas.microsoft.com/office/drawing/2014/main" id="{BA59579B-6DFE-2B7D-1CB5-91E3634FC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4690" y="1656395"/>
              <a:ext cx="360040" cy="432000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7</a:t>
              </a:r>
            </a:p>
          </p:txBody>
        </p:sp>
        <p:sp>
          <p:nvSpPr>
            <p:cNvPr id="24" name="Text Box 88">
              <a:extLst>
                <a:ext uri="{FF2B5EF4-FFF2-40B4-BE49-F238E27FC236}">
                  <a16:creationId xmlns:a16="http://schemas.microsoft.com/office/drawing/2014/main" id="{8F37F5C4-393E-8CB0-A59E-6893B992E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2742" y="1650490"/>
              <a:ext cx="360040" cy="432000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8</a:t>
              </a:r>
            </a:p>
          </p:txBody>
        </p:sp>
        <p:sp>
          <p:nvSpPr>
            <p:cNvPr id="26" name="Text Box 88">
              <a:extLst>
                <a:ext uri="{FF2B5EF4-FFF2-40B4-BE49-F238E27FC236}">
                  <a16:creationId xmlns:a16="http://schemas.microsoft.com/office/drawing/2014/main" id="{814C9921-E51C-1D36-DA96-C675EEEE16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0794" y="1657573"/>
              <a:ext cx="360040" cy="432000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9</a:t>
              </a:r>
            </a:p>
          </p:txBody>
        </p:sp>
        <p:sp>
          <p:nvSpPr>
            <p:cNvPr id="27" name="Text Box 88">
              <a:extLst>
                <a:ext uri="{FF2B5EF4-FFF2-40B4-BE49-F238E27FC236}">
                  <a16:creationId xmlns:a16="http://schemas.microsoft.com/office/drawing/2014/main" id="{EBF77EB0-26B1-B3CE-20A6-B4FBCD52C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8846" y="1650490"/>
              <a:ext cx="360040" cy="432000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0" tIns="0" rIns="0" bIns="0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10</a:t>
              </a:r>
            </a:p>
          </p:txBody>
        </p:sp>
        <p:cxnSp>
          <p:nvCxnSpPr>
            <p:cNvPr id="29" name="Gerade Verbindung 7">
              <a:extLst>
                <a:ext uri="{FF2B5EF4-FFF2-40B4-BE49-F238E27FC236}">
                  <a16:creationId xmlns:a16="http://schemas.microsoft.com/office/drawing/2014/main" id="{C7227863-2FAA-2B70-5CAC-F397964F6AB2}"/>
                </a:ext>
              </a:extLst>
            </p:cNvPr>
            <p:cNvCxnSpPr/>
            <p:nvPr/>
          </p:nvCxnSpPr>
          <p:spPr bwMode="auto">
            <a:xfrm>
              <a:off x="5312422" y="1980431"/>
              <a:ext cx="0" cy="4716524"/>
            </a:xfrm>
            <a:prstGeom prst="line">
              <a:avLst/>
            </a:prstGeom>
            <a:ln w="3175">
              <a:solidFill>
                <a:srgbClr val="969696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0" name="Gerade Verbindung 92">
              <a:extLst>
                <a:ext uri="{FF2B5EF4-FFF2-40B4-BE49-F238E27FC236}">
                  <a16:creationId xmlns:a16="http://schemas.microsoft.com/office/drawing/2014/main" id="{92C61DE2-54E6-59B7-A441-961AB9B499F6}"/>
                </a:ext>
              </a:extLst>
            </p:cNvPr>
            <p:cNvCxnSpPr/>
            <p:nvPr/>
          </p:nvCxnSpPr>
          <p:spPr bwMode="auto">
            <a:xfrm>
              <a:off x="5816478" y="1980431"/>
              <a:ext cx="0" cy="4716524"/>
            </a:xfrm>
            <a:prstGeom prst="line">
              <a:avLst/>
            </a:prstGeom>
            <a:ln w="3175">
              <a:solidFill>
                <a:srgbClr val="969696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1" name="Gerade Verbindung 98">
              <a:extLst>
                <a:ext uri="{FF2B5EF4-FFF2-40B4-BE49-F238E27FC236}">
                  <a16:creationId xmlns:a16="http://schemas.microsoft.com/office/drawing/2014/main" id="{B86101B5-9CB2-D02C-BE12-BE0AD4ECF4D9}"/>
                </a:ext>
              </a:extLst>
            </p:cNvPr>
            <p:cNvCxnSpPr/>
            <p:nvPr/>
          </p:nvCxnSpPr>
          <p:spPr bwMode="auto">
            <a:xfrm>
              <a:off x="6284530" y="1980431"/>
              <a:ext cx="0" cy="4716524"/>
            </a:xfrm>
            <a:prstGeom prst="line">
              <a:avLst/>
            </a:prstGeom>
            <a:ln w="3175">
              <a:solidFill>
                <a:srgbClr val="969696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2" name="Gerade Verbindung 99">
              <a:extLst>
                <a:ext uri="{FF2B5EF4-FFF2-40B4-BE49-F238E27FC236}">
                  <a16:creationId xmlns:a16="http://schemas.microsoft.com/office/drawing/2014/main" id="{2B7DFFBF-B0E7-A147-C029-A1A54CD45521}"/>
                </a:ext>
              </a:extLst>
            </p:cNvPr>
            <p:cNvCxnSpPr/>
            <p:nvPr/>
          </p:nvCxnSpPr>
          <p:spPr bwMode="auto">
            <a:xfrm>
              <a:off x="6752582" y="1980431"/>
              <a:ext cx="0" cy="4716524"/>
            </a:xfrm>
            <a:prstGeom prst="line">
              <a:avLst/>
            </a:prstGeom>
            <a:ln w="3175">
              <a:solidFill>
                <a:srgbClr val="969696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3" name="Gerade Verbindung 100">
              <a:extLst>
                <a:ext uri="{FF2B5EF4-FFF2-40B4-BE49-F238E27FC236}">
                  <a16:creationId xmlns:a16="http://schemas.microsoft.com/office/drawing/2014/main" id="{A1F53CB0-448C-74EF-39E1-2A0A56BA8427}"/>
                </a:ext>
              </a:extLst>
            </p:cNvPr>
            <p:cNvCxnSpPr/>
            <p:nvPr/>
          </p:nvCxnSpPr>
          <p:spPr bwMode="auto">
            <a:xfrm>
              <a:off x="7220634" y="1980431"/>
              <a:ext cx="0" cy="4716524"/>
            </a:xfrm>
            <a:prstGeom prst="line">
              <a:avLst/>
            </a:prstGeom>
            <a:ln w="3175">
              <a:solidFill>
                <a:srgbClr val="969696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4" name="Gerade Verbindung 101">
              <a:extLst>
                <a:ext uri="{FF2B5EF4-FFF2-40B4-BE49-F238E27FC236}">
                  <a16:creationId xmlns:a16="http://schemas.microsoft.com/office/drawing/2014/main" id="{27A0DEBE-C11A-44B4-4BA0-FA9F3E47529A}"/>
                </a:ext>
              </a:extLst>
            </p:cNvPr>
            <p:cNvCxnSpPr/>
            <p:nvPr/>
          </p:nvCxnSpPr>
          <p:spPr bwMode="auto">
            <a:xfrm>
              <a:off x="7688686" y="1980431"/>
              <a:ext cx="0" cy="4716524"/>
            </a:xfrm>
            <a:prstGeom prst="line">
              <a:avLst/>
            </a:prstGeom>
            <a:ln w="3175">
              <a:solidFill>
                <a:srgbClr val="969696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5" name="Gerade Verbindung 102">
              <a:extLst>
                <a:ext uri="{FF2B5EF4-FFF2-40B4-BE49-F238E27FC236}">
                  <a16:creationId xmlns:a16="http://schemas.microsoft.com/office/drawing/2014/main" id="{1669602B-3FE3-8373-EF52-1E4C10E4F5E0}"/>
                </a:ext>
              </a:extLst>
            </p:cNvPr>
            <p:cNvCxnSpPr/>
            <p:nvPr/>
          </p:nvCxnSpPr>
          <p:spPr bwMode="auto">
            <a:xfrm>
              <a:off x="8120734" y="1980431"/>
              <a:ext cx="0" cy="4716524"/>
            </a:xfrm>
            <a:prstGeom prst="line">
              <a:avLst/>
            </a:prstGeom>
            <a:ln w="3175">
              <a:solidFill>
                <a:srgbClr val="969696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6" name="Gerade Verbindung 103">
              <a:extLst>
                <a:ext uri="{FF2B5EF4-FFF2-40B4-BE49-F238E27FC236}">
                  <a16:creationId xmlns:a16="http://schemas.microsoft.com/office/drawing/2014/main" id="{349F1D92-36D1-2786-C07D-AC041E5DD3CF}"/>
                </a:ext>
              </a:extLst>
            </p:cNvPr>
            <p:cNvCxnSpPr/>
            <p:nvPr/>
          </p:nvCxnSpPr>
          <p:spPr bwMode="auto">
            <a:xfrm>
              <a:off x="8624790" y="1980431"/>
              <a:ext cx="0" cy="4716524"/>
            </a:xfrm>
            <a:prstGeom prst="line">
              <a:avLst/>
            </a:prstGeom>
            <a:ln w="3175">
              <a:solidFill>
                <a:srgbClr val="969696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7" name="Gerade Verbindung 105">
              <a:extLst>
                <a:ext uri="{FF2B5EF4-FFF2-40B4-BE49-F238E27FC236}">
                  <a16:creationId xmlns:a16="http://schemas.microsoft.com/office/drawing/2014/main" id="{193F87CD-B48B-69E4-2913-EF26533638C7}"/>
                </a:ext>
              </a:extLst>
            </p:cNvPr>
            <p:cNvCxnSpPr/>
            <p:nvPr/>
          </p:nvCxnSpPr>
          <p:spPr bwMode="auto">
            <a:xfrm>
              <a:off x="9056838" y="1980431"/>
              <a:ext cx="0" cy="4716524"/>
            </a:xfrm>
            <a:prstGeom prst="line">
              <a:avLst/>
            </a:prstGeom>
            <a:ln w="3175">
              <a:solidFill>
                <a:srgbClr val="969696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8" name="Gerade Verbindung 106">
              <a:extLst>
                <a:ext uri="{FF2B5EF4-FFF2-40B4-BE49-F238E27FC236}">
                  <a16:creationId xmlns:a16="http://schemas.microsoft.com/office/drawing/2014/main" id="{6169B541-2983-7701-1C2F-1274535C3B04}"/>
                </a:ext>
              </a:extLst>
            </p:cNvPr>
            <p:cNvCxnSpPr/>
            <p:nvPr/>
          </p:nvCxnSpPr>
          <p:spPr bwMode="auto">
            <a:xfrm>
              <a:off x="9540912" y="1985044"/>
              <a:ext cx="0" cy="4716524"/>
            </a:xfrm>
            <a:prstGeom prst="line">
              <a:avLst/>
            </a:prstGeom>
            <a:ln w="3175">
              <a:solidFill>
                <a:srgbClr val="969696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470CA31E-08A1-4442-FD05-63AC36BA7FF9}"/>
                </a:ext>
              </a:extLst>
            </p:cNvPr>
            <p:cNvCxnSpPr/>
            <p:nvPr/>
          </p:nvCxnSpPr>
          <p:spPr bwMode="auto">
            <a:xfrm>
              <a:off x="4988386" y="2412479"/>
              <a:ext cx="324036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2DA03C33-4EF9-AAE7-F7D1-D7A2A87CE4A4}"/>
                </a:ext>
              </a:extLst>
            </p:cNvPr>
            <p:cNvCxnSpPr/>
            <p:nvPr/>
          </p:nvCxnSpPr>
          <p:spPr bwMode="auto">
            <a:xfrm>
              <a:off x="5339306" y="3657393"/>
              <a:ext cx="94522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5154E71C-1B82-6BEF-2A8B-5B6C6A309290}"/>
                </a:ext>
              </a:extLst>
            </p:cNvPr>
            <p:cNvCxnSpPr/>
            <p:nvPr/>
          </p:nvCxnSpPr>
          <p:spPr bwMode="auto">
            <a:xfrm>
              <a:off x="6428546" y="4104667"/>
              <a:ext cx="12601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94E94A2D-98CF-0EE9-3BB3-EE4E1C98E504}"/>
                </a:ext>
              </a:extLst>
            </p:cNvPr>
            <p:cNvCxnSpPr/>
            <p:nvPr/>
          </p:nvCxnSpPr>
          <p:spPr bwMode="auto">
            <a:xfrm>
              <a:off x="5039401" y="4607814"/>
              <a:ext cx="306854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04DC75CE-0D8D-8DAA-645F-85FA001C92A1}"/>
                </a:ext>
              </a:extLst>
            </p:cNvPr>
            <p:cNvCxnSpPr/>
            <p:nvPr/>
          </p:nvCxnSpPr>
          <p:spPr bwMode="auto">
            <a:xfrm>
              <a:off x="5816478" y="5109042"/>
              <a:ext cx="2328847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ED923BBC-C5F9-7A10-EB68-68017FAC6D94}"/>
                </a:ext>
              </a:extLst>
            </p:cNvPr>
            <p:cNvSpPr/>
            <p:nvPr/>
          </p:nvSpPr>
          <p:spPr bwMode="auto">
            <a:xfrm>
              <a:off x="5202430" y="2620299"/>
              <a:ext cx="90010" cy="8841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9377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09E4684A-3BCA-41B3-A29D-A202EE3712EE}"/>
                </a:ext>
              </a:extLst>
            </p:cNvPr>
            <p:cNvSpPr/>
            <p:nvPr/>
          </p:nvSpPr>
          <p:spPr bwMode="auto">
            <a:xfrm>
              <a:off x="5501443" y="3140763"/>
              <a:ext cx="90010" cy="8841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9377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ACE91E0A-6B81-0928-0C38-4FCA21349326}"/>
                </a:ext>
              </a:extLst>
            </p:cNvPr>
            <p:cNvSpPr/>
            <p:nvPr/>
          </p:nvSpPr>
          <p:spPr bwMode="auto">
            <a:xfrm>
              <a:off x="6336556" y="3849290"/>
              <a:ext cx="90010" cy="8841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9377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03A840F1-0B49-2550-B78A-757F919D573D}"/>
                </a:ext>
              </a:extLst>
            </p:cNvPr>
            <p:cNvSpPr/>
            <p:nvPr/>
          </p:nvSpPr>
          <p:spPr bwMode="auto">
            <a:xfrm>
              <a:off x="6480572" y="4880347"/>
              <a:ext cx="90010" cy="8841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9377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D4AB6C5F-269E-5F3E-D833-B6EF514A550B}"/>
                </a:ext>
              </a:extLst>
            </p:cNvPr>
            <p:cNvSpPr/>
            <p:nvPr/>
          </p:nvSpPr>
          <p:spPr bwMode="auto">
            <a:xfrm>
              <a:off x="8194297" y="5796621"/>
              <a:ext cx="90010" cy="8841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9377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65A4A74C-3A4B-120A-23FB-09DEB08DCA4B}"/>
                </a:ext>
              </a:extLst>
            </p:cNvPr>
            <p:cNvSpPr/>
            <p:nvPr/>
          </p:nvSpPr>
          <p:spPr bwMode="auto">
            <a:xfrm>
              <a:off x="8460792" y="6120888"/>
              <a:ext cx="90010" cy="8841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9377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87B34E68-359A-E3C7-3760-4A63A8748F27}"/>
                </a:ext>
              </a:extLst>
            </p:cNvPr>
            <p:cNvSpPr/>
            <p:nvPr/>
          </p:nvSpPr>
          <p:spPr bwMode="auto">
            <a:xfrm>
              <a:off x="8916302" y="6226667"/>
              <a:ext cx="90010" cy="8841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9377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1" name="Rectangle 53">
              <a:extLst>
                <a:ext uri="{FF2B5EF4-FFF2-40B4-BE49-F238E27FC236}">
                  <a16:creationId xmlns:a16="http://schemas.microsoft.com/office/drawing/2014/main" id="{28E9628F-6583-3F4F-573B-2FE3C8465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1546" y="2908941"/>
              <a:ext cx="2844810" cy="552060"/>
            </a:xfrm>
            <a:prstGeom prst="rect">
              <a:avLst/>
            </a:prstGeom>
            <a:solidFill>
              <a:srgbClr val="F8BF59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Vorbereitung Datenraum</a:t>
              </a:r>
            </a:p>
            <a:p>
              <a:pPr eaLnBrk="1" hangingPunct="1"/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Management Präsentation</a:t>
              </a:r>
            </a:p>
            <a:p>
              <a:pPr eaLnBrk="1" hangingPunct="1"/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Business / Industry / Financial</a:t>
              </a:r>
            </a:p>
          </p:txBody>
        </p:sp>
        <p:sp>
          <p:nvSpPr>
            <p:cNvPr id="53" name="Rectangle 87">
              <a:extLst>
                <a:ext uri="{FF2B5EF4-FFF2-40B4-BE49-F238E27FC236}">
                  <a16:creationId xmlns:a16="http://schemas.microsoft.com/office/drawing/2014/main" id="{1D6F6D42-D40F-EA03-E8DA-E04CF6A8223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1928" y="1980519"/>
              <a:ext cx="540000" cy="1044000"/>
            </a:xfrm>
            <a:prstGeom prst="rect">
              <a:avLst/>
            </a:prstGeom>
            <a:solidFill>
              <a:srgbClr val="9BD2D4"/>
            </a:solidFill>
            <a:ln w="3175" algn="ctr">
              <a:noFill/>
              <a:miter lim="800000"/>
              <a:headEnd/>
              <a:tailEnd/>
            </a:ln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 altLang="de-DE" b="1" dirty="0"/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BF62CE55-ABF3-FBFE-4932-73F9DF91DFAF}"/>
                </a:ext>
              </a:extLst>
            </p:cNvPr>
            <p:cNvSpPr txBox="1"/>
            <p:nvPr/>
          </p:nvSpPr>
          <p:spPr>
            <a:xfrm>
              <a:off x="539983" y="2387508"/>
              <a:ext cx="107398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b="1" dirty="0">
                  <a:latin typeface="Frutiger 55 Roman" panose="02000503040000020004" pitchFamily="2" charset="0"/>
                </a:rPr>
                <a:t>Vorbereitung</a:t>
              </a:r>
            </a:p>
          </p:txBody>
        </p:sp>
        <p:sp>
          <p:nvSpPr>
            <p:cNvPr id="54" name="Text Box 88">
              <a:extLst>
                <a:ext uri="{FF2B5EF4-FFF2-40B4-BE49-F238E27FC236}">
                  <a16:creationId xmlns:a16="http://schemas.microsoft.com/office/drawing/2014/main" id="{12D41C97-B543-4B24-6F75-0DCE63D67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880" y="2082491"/>
              <a:ext cx="390528" cy="401914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I.</a:t>
              </a:r>
            </a:p>
          </p:txBody>
        </p:sp>
        <p:sp>
          <p:nvSpPr>
            <p:cNvPr id="55" name="Rectangle 87">
              <a:extLst>
                <a:ext uri="{FF2B5EF4-FFF2-40B4-BE49-F238E27FC236}">
                  <a16:creationId xmlns:a16="http://schemas.microsoft.com/office/drawing/2014/main" id="{065F5F95-1656-0093-3222-99B07226FA9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5026" y="2656941"/>
              <a:ext cx="540000" cy="1044000"/>
            </a:xfrm>
            <a:prstGeom prst="rect">
              <a:avLst/>
            </a:prstGeom>
            <a:solidFill>
              <a:srgbClr val="9BD2D4"/>
            </a:solidFill>
            <a:ln w="3175" algn="ctr">
              <a:noFill/>
              <a:miter lim="800000"/>
              <a:headEnd/>
              <a:tailEnd/>
            </a:ln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 altLang="de-DE" b="1"/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174B622-78BD-91F5-310A-67EA5A509C3D}"/>
                </a:ext>
              </a:extLst>
            </p:cNvPr>
            <p:cNvSpPr txBox="1"/>
            <p:nvPr/>
          </p:nvSpPr>
          <p:spPr>
            <a:xfrm>
              <a:off x="552411" y="2952539"/>
              <a:ext cx="107398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b="1" dirty="0">
                  <a:latin typeface="Frutiger 55 Roman" panose="02000503040000020004" pitchFamily="2" charset="0"/>
                </a:rPr>
                <a:t>Due Diligence</a:t>
              </a:r>
            </a:p>
          </p:txBody>
        </p:sp>
        <p:sp>
          <p:nvSpPr>
            <p:cNvPr id="57" name="Rectangle 87">
              <a:extLst>
                <a:ext uri="{FF2B5EF4-FFF2-40B4-BE49-F238E27FC236}">
                  <a16:creationId xmlns:a16="http://schemas.microsoft.com/office/drawing/2014/main" id="{0164C493-51FA-8D9B-B9A6-C1EBCC8710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29740" y="3451457"/>
              <a:ext cx="694467" cy="1044000"/>
            </a:xfrm>
            <a:prstGeom prst="rect">
              <a:avLst/>
            </a:prstGeom>
            <a:solidFill>
              <a:srgbClr val="9BD2D4"/>
            </a:solidFill>
            <a:ln w="3175" algn="ctr">
              <a:noFill/>
              <a:miter lim="800000"/>
              <a:headEnd/>
              <a:tailEnd/>
            </a:ln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 altLang="de-DE" b="1" dirty="0"/>
            </a:p>
          </p:txBody>
        </p:sp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A93B8601-E73B-F5CA-8A49-B73A5FC334E0}"/>
                </a:ext>
              </a:extLst>
            </p:cNvPr>
            <p:cNvSpPr txBox="1"/>
            <p:nvPr/>
          </p:nvSpPr>
          <p:spPr>
            <a:xfrm>
              <a:off x="554973" y="3852639"/>
              <a:ext cx="10440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b="1" dirty="0">
                  <a:latin typeface="Frutiger 55 Roman" panose="02000503040000020004" pitchFamily="2" charset="0"/>
                </a:rPr>
                <a:t>Rating</a:t>
              </a:r>
            </a:p>
          </p:txBody>
        </p:sp>
        <p:cxnSp>
          <p:nvCxnSpPr>
            <p:cNvPr id="59" name="Gerade Verbindung mit Pfeil 58">
              <a:extLst>
                <a:ext uri="{FF2B5EF4-FFF2-40B4-BE49-F238E27FC236}">
                  <a16:creationId xmlns:a16="http://schemas.microsoft.com/office/drawing/2014/main" id="{EC819D98-340B-C206-CC0D-2746C7211804}"/>
                </a:ext>
              </a:extLst>
            </p:cNvPr>
            <p:cNvCxnSpPr/>
            <p:nvPr/>
          </p:nvCxnSpPr>
          <p:spPr bwMode="auto">
            <a:xfrm>
              <a:off x="485906" y="4390680"/>
              <a:ext cx="9199022" cy="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0" name="Rectangle 5">
              <a:extLst>
                <a:ext uri="{FF2B5EF4-FFF2-40B4-BE49-F238E27FC236}">
                  <a16:creationId xmlns:a16="http://schemas.microsoft.com/office/drawing/2014/main" id="{E7609E77-7995-E078-48A5-6D30EED07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1546" y="5364804"/>
              <a:ext cx="2844810" cy="1080120"/>
            </a:xfrm>
            <a:prstGeom prst="rect">
              <a:avLst/>
            </a:prstGeom>
            <a:solidFill>
              <a:srgbClr val="F8BF59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Vorbereitung der Roadshow-Präsentation</a:t>
              </a:r>
            </a:p>
            <a:p>
              <a:pPr eaLnBrk="1" hangingPunct="1"/>
              <a:r>
                <a:rPr lang="de-DE" altLang="de-DE" sz="1000" dirty="0" err="1">
                  <a:solidFill>
                    <a:schemeClr val="accent1"/>
                  </a:solidFill>
                  <a:latin typeface="Frutiger 55 Roman" panose="02000503040000020004" pitchFamily="2" charset="0"/>
                </a:rPr>
                <a:t>Pre</a:t>
              </a:r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-Marketing</a:t>
              </a:r>
            </a:p>
            <a:p>
              <a:pPr eaLnBrk="1" hangingPunct="1"/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Start der Transaktion</a:t>
              </a:r>
            </a:p>
            <a:p>
              <a:pPr eaLnBrk="1" hangingPunct="1"/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Roadshow</a:t>
              </a:r>
            </a:p>
            <a:p>
              <a:pPr eaLnBrk="1" hangingPunct="1"/>
              <a:r>
                <a:rPr lang="de-DE" altLang="de-DE" sz="1000" dirty="0" err="1">
                  <a:solidFill>
                    <a:schemeClr val="accent1"/>
                  </a:solidFill>
                  <a:latin typeface="Frutiger 55 Roman" panose="02000503040000020004" pitchFamily="2" charset="0"/>
                </a:rPr>
                <a:t>Bookbuilding</a:t>
              </a:r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/ </a:t>
              </a:r>
              <a:r>
                <a:rPr lang="de-DE" altLang="de-DE" sz="1000" dirty="0" err="1">
                  <a:solidFill>
                    <a:schemeClr val="accent1"/>
                  </a:solidFill>
                  <a:latin typeface="Frutiger 55 Roman" panose="02000503040000020004" pitchFamily="2" charset="0"/>
                </a:rPr>
                <a:t>Pricing</a:t>
              </a:r>
              <a:endParaRPr lang="de-DE" altLang="de-DE" sz="1000" dirty="0">
                <a:solidFill>
                  <a:schemeClr val="accent1"/>
                </a:solidFill>
                <a:latin typeface="Frutiger 55 Roman" panose="02000503040000020004" pitchFamily="2" charset="0"/>
              </a:endParaRPr>
            </a:p>
            <a:p>
              <a:pPr eaLnBrk="1" hangingPunct="1"/>
              <a:r>
                <a:rPr lang="de-DE" altLang="de-DE" sz="1000" dirty="0" err="1">
                  <a:solidFill>
                    <a:schemeClr val="accent1"/>
                  </a:solidFill>
                  <a:latin typeface="Frutiger 55 Roman" panose="02000503040000020004" pitchFamily="2" charset="0"/>
                </a:rPr>
                <a:t>Closing</a:t>
              </a:r>
              <a:r>
                <a:rPr lang="de-DE" altLang="de-DE" sz="1000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 </a:t>
              </a:r>
            </a:p>
          </p:txBody>
        </p:sp>
        <p:sp>
          <p:nvSpPr>
            <p:cNvPr id="61" name="Rectangle 87">
              <a:extLst>
                <a:ext uri="{FF2B5EF4-FFF2-40B4-BE49-F238E27FC236}">
                  <a16:creationId xmlns:a16="http://schemas.microsoft.com/office/drawing/2014/main" id="{C564106F-E932-5F03-19BA-5309DCA299A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95274" y="4311453"/>
              <a:ext cx="758273" cy="1044000"/>
            </a:xfrm>
            <a:prstGeom prst="rect">
              <a:avLst/>
            </a:prstGeom>
            <a:solidFill>
              <a:srgbClr val="9BD2D4"/>
            </a:solidFill>
            <a:ln w="3175" algn="ctr">
              <a:noFill/>
              <a:miter lim="800000"/>
              <a:headEnd/>
              <a:tailEnd/>
            </a:ln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 altLang="de-DE" b="1"/>
            </a:p>
          </p:txBody>
        </p: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F0FC9781-51E5-D29F-DD31-0DBC1A4BBA45}"/>
                </a:ext>
              </a:extLst>
            </p:cNvPr>
            <p:cNvSpPr txBox="1"/>
            <p:nvPr/>
          </p:nvSpPr>
          <p:spPr>
            <a:xfrm>
              <a:off x="558443" y="4607814"/>
              <a:ext cx="104913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b="1" dirty="0">
                  <a:latin typeface="Frutiger 55 Roman" panose="02000503040000020004" pitchFamily="2" charset="0"/>
                </a:rPr>
                <a:t>Dokumentation</a:t>
              </a:r>
            </a:p>
          </p:txBody>
        </p:sp>
        <p:sp>
          <p:nvSpPr>
            <p:cNvPr id="63" name="Rectangle 87">
              <a:extLst>
                <a:ext uri="{FF2B5EF4-FFF2-40B4-BE49-F238E27FC236}">
                  <a16:creationId xmlns:a16="http://schemas.microsoft.com/office/drawing/2014/main" id="{8AE8ACDF-97FF-53FE-628B-3B19D43997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64333" y="5382866"/>
              <a:ext cx="1080121" cy="1044000"/>
            </a:xfrm>
            <a:prstGeom prst="rect">
              <a:avLst/>
            </a:prstGeom>
            <a:solidFill>
              <a:srgbClr val="9BD2D4"/>
            </a:solidFill>
            <a:ln w="3175" algn="ctr">
              <a:noFill/>
              <a:miter lim="800000"/>
              <a:headEnd/>
              <a:tailEnd/>
            </a:ln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 altLang="de-DE" b="1"/>
            </a:p>
          </p:txBody>
        </p: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267F1358-8FD8-14F5-0BED-9C3CA2CDCD8F}"/>
                </a:ext>
              </a:extLst>
            </p:cNvPr>
            <p:cNvSpPr txBox="1"/>
            <p:nvPr/>
          </p:nvSpPr>
          <p:spPr>
            <a:xfrm>
              <a:off x="579823" y="5659223"/>
              <a:ext cx="1101761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b="1" dirty="0">
                  <a:latin typeface="Frutiger 55 Roman" panose="02000503040000020004" pitchFamily="2" charset="0"/>
                </a:rPr>
                <a:t>Vermarktung/Umsetzung</a:t>
              </a:r>
            </a:p>
          </p:txBody>
        </p:sp>
        <p:sp>
          <p:nvSpPr>
            <p:cNvPr id="65" name="Text Box 88">
              <a:extLst>
                <a:ext uri="{FF2B5EF4-FFF2-40B4-BE49-F238E27FC236}">
                  <a16:creationId xmlns:a16="http://schemas.microsoft.com/office/drawing/2014/main" id="{5AD5891E-75AB-8C59-54C3-26C4DDF3E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304" y="2889995"/>
              <a:ext cx="390528" cy="401914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II.</a:t>
              </a:r>
            </a:p>
          </p:txBody>
        </p:sp>
        <p:sp>
          <p:nvSpPr>
            <p:cNvPr id="66" name="Text Box 88">
              <a:extLst>
                <a:ext uri="{FF2B5EF4-FFF2-40B4-BE49-F238E27FC236}">
                  <a16:creationId xmlns:a16="http://schemas.microsoft.com/office/drawing/2014/main" id="{72A9393C-B77E-D644-EC80-005EF19F4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396" y="3594741"/>
              <a:ext cx="390528" cy="401914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III.</a:t>
              </a:r>
            </a:p>
          </p:txBody>
        </p:sp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2E822100-4DE2-B359-F6FB-864A213FC3CC}"/>
                </a:ext>
              </a:extLst>
            </p:cNvPr>
            <p:cNvCxnSpPr/>
            <p:nvPr/>
          </p:nvCxnSpPr>
          <p:spPr bwMode="auto">
            <a:xfrm>
              <a:off x="530911" y="5292799"/>
              <a:ext cx="9154017" cy="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8" name="Text Box 88">
              <a:extLst>
                <a:ext uri="{FF2B5EF4-FFF2-40B4-BE49-F238E27FC236}">
                  <a16:creationId xmlns:a16="http://schemas.microsoft.com/office/drawing/2014/main" id="{3DF673AA-B448-A92D-7D80-2FA936FAA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884" y="4428703"/>
              <a:ext cx="390528" cy="401914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IV.</a:t>
              </a:r>
            </a:p>
          </p:txBody>
        </p:sp>
        <p:sp>
          <p:nvSpPr>
            <p:cNvPr id="69" name="Text Box 88">
              <a:extLst>
                <a:ext uri="{FF2B5EF4-FFF2-40B4-BE49-F238E27FC236}">
                  <a16:creationId xmlns:a16="http://schemas.microsoft.com/office/drawing/2014/main" id="{C0FA73C8-2846-501B-81D7-C24BEF380C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884" y="5328800"/>
              <a:ext cx="390528" cy="401914"/>
            </a:xfrm>
            <a:prstGeom prst="rect">
              <a:avLst/>
            </a:prstGeom>
            <a:solidFill>
              <a:srgbClr val="A6B4C2"/>
            </a:solidFill>
            <a:ln w="9525" algn="ctr">
              <a:noFill/>
              <a:miter lim="800000"/>
              <a:headEnd/>
              <a:tailEnd/>
            </a:ln>
          </p:spPr>
          <p:txBody>
            <a:bodyPr lIns="99368" tIns="49684" rIns="99368" bIns="49684" anchor="ctr"/>
            <a:lstStyle>
              <a:lvl1pPr marL="87313" indent="-87313" defTabSz="993775" eaLnBrk="0" hangingPunct="0">
                <a:defRPr sz="1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93775" eaLnBrk="0" hangingPunct="0">
                <a:buChar char="•"/>
                <a:defRPr sz="12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93775" eaLnBrk="0" hangingPunct="0">
                <a:buChar char="–"/>
                <a:defRPr sz="12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93775" eaLnBrk="0" hangingPunct="0"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spcBef>
                  <a:spcPct val="20000"/>
                </a:spcBef>
                <a:buSzPct val="60000"/>
                <a:buFont typeface="Wingdings" pitchFamily="2" charset="2"/>
                <a:buNone/>
              </a:pPr>
              <a:r>
                <a:rPr lang="de-DE" altLang="de-DE" sz="1100" b="1" dirty="0">
                  <a:solidFill>
                    <a:schemeClr val="accent1"/>
                  </a:solidFill>
                  <a:latin typeface="Frutiger 55 Roman" panose="02000503040000020004" pitchFamily="2" charset="0"/>
                </a:rPr>
                <a:t>V.</a:t>
              </a:r>
            </a:p>
          </p:txBody>
        </p:sp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B9145147-F8F3-7814-9C23-FF661B453224}"/>
                </a:ext>
              </a:extLst>
            </p:cNvPr>
            <p:cNvCxnSpPr/>
            <p:nvPr/>
          </p:nvCxnSpPr>
          <p:spPr bwMode="auto">
            <a:xfrm flipV="1">
              <a:off x="5276418" y="2664507"/>
              <a:ext cx="535500" cy="4102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Gerade Verbindung mit Pfeil 70">
              <a:extLst>
                <a:ext uri="{FF2B5EF4-FFF2-40B4-BE49-F238E27FC236}">
                  <a16:creationId xmlns:a16="http://schemas.microsoft.com/office/drawing/2014/main" id="{2EAD14F8-13D6-FEF5-5793-A46C674962D5}"/>
                </a:ext>
              </a:extLst>
            </p:cNvPr>
            <p:cNvCxnSpPr/>
            <p:nvPr/>
          </p:nvCxnSpPr>
          <p:spPr bwMode="auto">
            <a:xfrm>
              <a:off x="4994641" y="2952539"/>
              <a:ext cx="804437" cy="8204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Gerade Verbindung mit Pfeil 71">
              <a:extLst>
                <a:ext uri="{FF2B5EF4-FFF2-40B4-BE49-F238E27FC236}">
                  <a16:creationId xmlns:a16="http://schemas.microsoft.com/office/drawing/2014/main" id="{7D5F1C85-5E93-211B-AC7D-0AAAC9CB41F5}"/>
                </a:ext>
              </a:extLst>
            </p:cNvPr>
            <p:cNvCxnSpPr/>
            <p:nvPr/>
          </p:nvCxnSpPr>
          <p:spPr bwMode="auto">
            <a:xfrm>
              <a:off x="5312422" y="3404792"/>
              <a:ext cx="237626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1F0595FA-4128-4A77-F422-51C0D8EFECAC}"/>
                </a:ext>
              </a:extLst>
            </p:cNvPr>
            <p:cNvSpPr/>
            <p:nvPr/>
          </p:nvSpPr>
          <p:spPr bwMode="auto">
            <a:xfrm>
              <a:off x="7571673" y="4232275"/>
              <a:ext cx="90010" cy="8841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9377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74" name="Gerade Verbindung mit Pfeil 73">
              <a:extLst>
                <a:ext uri="{FF2B5EF4-FFF2-40B4-BE49-F238E27FC236}">
                  <a16:creationId xmlns:a16="http://schemas.microsoft.com/office/drawing/2014/main" id="{BF54D9CA-E7A7-DE0C-C063-AC95C29922B1}"/>
                </a:ext>
              </a:extLst>
            </p:cNvPr>
            <p:cNvCxnSpPr/>
            <p:nvPr/>
          </p:nvCxnSpPr>
          <p:spPr bwMode="auto">
            <a:xfrm>
              <a:off x="5052186" y="4761816"/>
              <a:ext cx="306854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5A9B5CF3-A8DB-D89F-4F2A-656F98B576F0}"/>
                </a:ext>
              </a:extLst>
            </p:cNvPr>
            <p:cNvSpPr/>
            <p:nvPr/>
          </p:nvSpPr>
          <p:spPr bwMode="auto">
            <a:xfrm>
              <a:off x="7443247" y="4880347"/>
              <a:ext cx="90010" cy="8841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9377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76" name="Gerade Verbindung mit Pfeil 75">
              <a:extLst>
                <a:ext uri="{FF2B5EF4-FFF2-40B4-BE49-F238E27FC236}">
                  <a16:creationId xmlns:a16="http://schemas.microsoft.com/office/drawing/2014/main" id="{CF6CA7AB-315C-1456-AB60-7254BEEE2209}"/>
                </a:ext>
              </a:extLst>
            </p:cNvPr>
            <p:cNvCxnSpPr/>
            <p:nvPr/>
          </p:nvCxnSpPr>
          <p:spPr bwMode="auto">
            <a:xfrm>
              <a:off x="6336556" y="5472819"/>
              <a:ext cx="1808769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Gerade Verbindung mit Pfeil 76">
              <a:extLst>
                <a:ext uri="{FF2B5EF4-FFF2-40B4-BE49-F238E27FC236}">
                  <a16:creationId xmlns:a16="http://schemas.microsoft.com/office/drawing/2014/main" id="{EE1AA43D-E377-4391-D537-A266ECA866E1}"/>
                </a:ext>
              </a:extLst>
            </p:cNvPr>
            <p:cNvCxnSpPr/>
            <p:nvPr/>
          </p:nvCxnSpPr>
          <p:spPr bwMode="auto">
            <a:xfrm>
              <a:off x="7704708" y="5652839"/>
              <a:ext cx="44236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Gerade Verbindung mit Pfeil 77">
              <a:extLst>
                <a:ext uri="{FF2B5EF4-FFF2-40B4-BE49-F238E27FC236}">
                  <a16:creationId xmlns:a16="http://schemas.microsoft.com/office/drawing/2014/main" id="{7280A1D8-DCE0-A209-B405-684E2387CB53}"/>
                </a:ext>
              </a:extLst>
            </p:cNvPr>
            <p:cNvCxnSpPr/>
            <p:nvPr/>
          </p:nvCxnSpPr>
          <p:spPr bwMode="auto">
            <a:xfrm>
              <a:off x="8151581" y="6012879"/>
              <a:ext cx="44236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3" name="Google Shape;140;p9">
            <a:extLst>
              <a:ext uri="{FF2B5EF4-FFF2-40B4-BE49-F238E27FC236}">
                <a16:creationId xmlns:a16="http://schemas.microsoft.com/office/drawing/2014/main" id="{96505638-1C2F-29B5-4FC7-62019C32A175}"/>
              </a:ext>
            </a:extLst>
          </p:cNvPr>
          <p:cNvSpPr txBox="1">
            <a:spLocks/>
          </p:cNvSpPr>
          <p:nvPr/>
        </p:nvSpPr>
        <p:spPr>
          <a:xfrm>
            <a:off x="486705" y="263293"/>
            <a:ext cx="905532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sz="28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Umsetzung einer Anleihe-Emission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237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9"/>
          <p:cNvSpPr txBox="1"/>
          <p:nvPr/>
        </p:nvSpPr>
        <p:spPr>
          <a:xfrm>
            <a:off x="632627" y="1405353"/>
            <a:ext cx="10441162" cy="3921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9975" tIns="179975" rIns="179975" bIns="179975" anchor="t" anchorCtr="0">
            <a:spAutoFit/>
          </a:bodyPr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de-DE" sz="2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Mittelstandsanleihen</a:t>
            </a:r>
            <a:r>
              <a:rPr lang="de-DE" sz="2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 haben sich als </a:t>
            </a:r>
            <a:r>
              <a:rPr lang="de-DE" sz="2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Alternative zum Bankkredit </a:t>
            </a:r>
            <a:r>
              <a:rPr lang="de-DE" sz="2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etabliert</a:t>
            </a:r>
            <a:r>
              <a:rPr lang="de-DE" sz="2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de-DE" sz="2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Der Markt für diese Art von Anleihe hat eine </a:t>
            </a:r>
            <a:r>
              <a:rPr lang="de-DE" sz="2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bewegte Vergangenheit.</a:t>
            </a:r>
            <a:endParaRPr lang="de-DE" sz="2400" dirty="0">
              <a:solidFill>
                <a:schemeClr val="accent1"/>
              </a:solidFill>
              <a:latin typeface="Frutiger 55 Roman" panose="02000503040000020004" pitchFamily="2" charset="0"/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de-DE" sz="2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Ob Mittelstandsanleihen positiv oder negativ sind, ist allein aus dem </a:t>
            </a:r>
            <a:r>
              <a:rPr lang="de-DE" sz="2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Blickwinkel des emittierenden Unternehmens </a:t>
            </a:r>
            <a:r>
              <a:rPr lang="de-DE" sz="2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zu beurteilen.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de-DE" sz="2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Auf jeden Fall stellt die </a:t>
            </a:r>
            <a:r>
              <a:rPr lang="de-DE" sz="2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zusätzliche Alternative durch Mittelstandsanleihen </a:t>
            </a:r>
            <a:r>
              <a:rPr lang="de-DE" sz="2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für Unternehmen ein </a:t>
            </a:r>
            <a:r>
              <a:rPr lang="de-DE" sz="2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Positivum </a:t>
            </a:r>
            <a:r>
              <a:rPr lang="de-DE" sz="2400" dirty="0">
                <a:solidFill>
                  <a:schemeClr val="accent1"/>
                </a:solidFill>
                <a:latin typeface="Frutiger 55 Roman" panose="02000503040000020004" pitchFamily="2" charset="0"/>
              </a:rPr>
              <a:t>dar</a:t>
            </a:r>
            <a:r>
              <a:rPr lang="de-DE" sz="2400" b="1" dirty="0">
                <a:solidFill>
                  <a:schemeClr val="accent1"/>
                </a:solidFill>
                <a:latin typeface="Frutiger 55 Roman" panose="02000503040000020004" pitchFamily="2" charset="0"/>
              </a:rPr>
              <a:t>.</a:t>
            </a:r>
            <a:endParaRPr lang="de-DE" sz="2400" dirty="0">
              <a:solidFill>
                <a:schemeClr val="accent1"/>
              </a:solidFill>
              <a:latin typeface="Frutiger 55 Roman" panose="02000503040000020004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22683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Widescreen</PresentationFormat>
  <Paragraphs>59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Frutiger 55 Roman</vt:lpstr>
      <vt:lpstr>Wingdings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Marius Ladner</dc:creator>
  <cp:lastModifiedBy>Marius Ladner</cp:lastModifiedBy>
  <cp:revision>3</cp:revision>
  <dcterms:created xsi:type="dcterms:W3CDTF">2024-03-23T15:50:43Z</dcterms:created>
  <dcterms:modified xsi:type="dcterms:W3CDTF">2024-03-23T16:22:58Z</dcterms:modified>
</cp:coreProperties>
</file>