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3" r:id="rId2"/>
  </p:sldMasterIdLst>
  <p:notesMasterIdLst>
    <p:notesMasterId r:id="rId11"/>
  </p:notesMasterIdLst>
  <p:sldIdLst>
    <p:sldId id="657" r:id="rId3"/>
    <p:sldId id="658" r:id="rId4"/>
    <p:sldId id="659" r:id="rId5"/>
    <p:sldId id="652" r:id="rId6"/>
    <p:sldId id="660" r:id="rId7"/>
    <p:sldId id="653" r:id="rId8"/>
    <p:sldId id="665" r:id="rId9"/>
    <p:sldId id="664" r:id="rId10"/>
  </p:sldIdLst>
  <p:sldSz cx="9144000" cy="6858000" type="screen4x3"/>
  <p:notesSz cx="6794500" cy="9906000"/>
  <p:defaultTextStyle>
    <a:defPPr>
      <a:defRPr lang="de-DE"/>
    </a:defPPr>
    <a:lvl1pPr marL="0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8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31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5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18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62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06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49" algn="l" defTabSz="91428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1">
          <p15:clr>
            <a:srgbClr val="A4A3A4"/>
          </p15:clr>
        </p15:guide>
        <p15:guide id="2" orient="horz" pos="819">
          <p15:clr>
            <a:srgbClr val="A4A3A4"/>
          </p15:clr>
        </p15:guide>
        <p15:guide id="3" orient="horz" pos="2402">
          <p15:clr>
            <a:srgbClr val="A4A3A4"/>
          </p15:clr>
        </p15:guide>
        <p15:guide id="4" pos="204">
          <p15:clr>
            <a:srgbClr val="A4A3A4"/>
          </p15:clr>
        </p15:guide>
        <p15:guide id="5" pos="2963">
          <p15:clr>
            <a:srgbClr val="A4A3A4"/>
          </p15:clr>
        </p15:guide>
        <p15:guide id="6" pos="2789">
          <p15:clr>
            <a:srgbClr val="A4A3A4"/>
          </p15:clr>
        </p15:guide>
        <p15:guide id="7" pos="55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FFFF"/>
    <a:srgbClr val="DDDEE3"/>
    <a:srgbClr val="B3B3BF"/>
    <a:srgbClr val="FEF7E8"/>
    <a:srgbClr val="002750"/>
    <a:srgbClr val="001A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96" autoAdjust="0"/>
    <p:restoredTop sz="98693" autoAdjust="0"/>
  </p:normalViewPr>
  <p:slideViewPr>
    <p:cSldViewPr snapToGrid="0" showGuides="1">
      <p:cViewPr varScale="1">
        <p:scale>
          <a:sx n="112" d="100"/>
          <a:sy n="112" d="100"/>
        </p:scale>
        <p:origin x="558" y="96"/>
      </p:cViewPr>
      <p:guideLst>
        <p:guide orient="horz" pos="3971"/>
        <p:guide orient="horz" pos="819"/>
        <p:guide orient="horz" pos="2402"/>
        <p:guide pos="204"/>
        <p:guide pos="2963"/>
        <p:guide pos="2789"/>
        <p:guide pos="555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4283" cy="495300"/>
          </a:xfrm>
          <a:prstGeom prst="rect">
            <a:avLst/>
          </a:prstGeom>
        </p:spPr>
        <p:txBody>
          <a:bodyPr vert="horz" lIns="91897" tIns="45949" rIns="91897" bIns="45949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8645" y="1"/>
            <a:ext cx="2944283" cy="495300"/>
          </a:xfrm>
          <a:prstGeom prst="rect">
            <a:avLst/>
          </a:prstGeom>
        </p:spPr>
        <p:txBody>
          <a:bodyPr vert="horz" lIns="91897" tIns="45949" rIns="91897" bIns="45949" rtlCol="0"/>
          <a:lstStyle>
            <a:lvl1pPr algn="r">
              <a:defRPr sz="1200"/>
            </a:lvl1pPr>
          </a:lstStyle>
          <a:p>
            <a:fld id="{CFF6D285-0A0F-487F-A3C8-721C9DE7248A}" type="datetimeFigureOut">
              <a:rPr lang="de-DE" smtClean="0"/>
              <a:t>07.01.2022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2950"/>
            <a:ext cx="4953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97" tIns="45949" rIns="91897" bIns="45949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1" y="4705350"/>
            <a:ext cx="5435600" cy="4457700"/>
          </a:xfrm>
          <a:prstGeom prst="rect">
            <a:avLst/>
          </a:prstGeom>
        </p:spPr>
        <p:txBody>
          <a:bodyPr vert="horz" lIns="91897" tIns="45949" rIns="91897" bIns="45949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44283" cy="495300"/>
          </a:xfrm>
          <a:prstGeom prst="rect">
            <a:avLst/>
          </a:prstGeom>
        </p:spPr>
        <p:txBody>
          <a:bodyPr vert="horz" lIns="91897" tIns="45949" rIns="91897" bIns="45949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8645" y="9408981"/>
            <a:ext cx="2944283" cy="495300"/>
          </a:xfrm>
          <a:prstGeom prst="rect">
            <a:avLst/>
          </a:prstGeom>
        </p:spPr>
        <p:txBody>
          <a:bodyPr vert="horz" lIns="91897" tIns="45949" rIns="91897" bIns="45949" rtlCol="0" anchor="b"/>
          <a:lstStyle>
            <a:lvl1pPr algn="r">
              <a:defRPr sz="1200"/>
            </a:lvl1pPr>
          </a:lstStyle>
          <a:p>
            <a:fld id="{6AC7E5B5-545F-47C4-8619-F436611687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8099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29361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14680" algn="l" defTabSz="829361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29361" algn="l" defTabSz="829361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44041" algn="l" defTabSz="829361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658722" algn="l" defTabSz="829361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073402" algn="l" defTabSz="829361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488082" algn="l" defTabSz="829361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02763" algn="l" defTabSz="829361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317443" algn="l" defTabSz="829361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C7E5B5-545F-47C4-8619-F43661168775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5679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C7E5B5-545F-47C4-8619-F43661168775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5830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C7E5B5-545F-47C4-8619-F43661168775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2048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/>
          <p:cNvSpPr>
            <a:spLocks noGrp="1"/>
          </p:cNvSpPr>
          <p:nvPr>
            <p:ph type="pic" sz="quarter" idx="13"/>
          </p:nvPr>
        </p:nvSpPr>
        <p:spPr>
          <a:xfrm>
            <a:off x="0" y="971551"/>
            <a:ext cx="9144000" cy="3932698"/>
          </a:xfrm>
          <a:solidFill>
            <a:schemeClr val="bg1"/>
          </a:solidFill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568000" y="6408000"/>
            <a:ext cx="252000" cy="180000"/>
          </a:xfrm>
          <a:prstGeom prst="rect">
            <a:avLst/>
          </a:prstGeom>
        </p:spPr>
        <p:txBody>
          <a:bodyPr/>
          <a:lstStyle/>
          <a:p>
            <a:fld id="{8B81FD52-6552-4A22-ABF0-280D6EB48E63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>
          <a:xfrm>
            <a:off x="323850" y="5292000"/>
            <a:ext cx="8496300" cy="369310"/>
          </a:xfrm>
        </p:spPr>
        <p:txBody>
          <a:bodyPr/>
          <a:lstStyle>
            <a:lvl1pPr>
              <a:lnSpc>
                <a:spcPts val="2700"/>
              </a:lnSpc>
              <a:defRPr sz="2500" b="0"/>
            </a:lvl1pPr>
          </a:lstStyle>
          <a:p>
            <a:r>
              <a:rPr lang="de-DE"/>
              <a:t>Präsentationstitel eingeben</a:t>
            </a:r>
          </a:p>
        </p:txBody>
      </p:sp>
      <p:sp>
        <p:nvSpPr>
          <p:cNvPr id="14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323850" y="5661310"/>
            <a:ext cx="8496300" cy="575978"/>
          </a:xfrm>
        </p:spPr>
        <p:txBody>
          <a:bodyPr>
            <a:noAutofit/>
          </a:bodyPr>
          <a:lstStyle>
            <a:lvl1pPr marL="0" indent="0" algn="l">
              <a:lnSpc>
                <a:spcPts val="2500"/>
              </a:lnSpc>
              <a:buNone/>
              <a:defRPr baseline="0">
                <a:solidFill>
                  <a:schemeClr val="tx1"/>
                </a:solidFill>
              </a:defRPr>
            </a:lvl1pPr>
            <a:lvl2pPr marL="0" indent="0" algn="l">
              <a:buNone/>
              <a:defRPr b="0">
                <a:solidFill>
                  <a:schemeClr val="accent1"/>
                </a:solidFill>
              </a:defRPr>
            </a:lvl2pPr>
            <a:lvl3pPr marL="914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Untertitel eingeben</a:t>
            </a:r>
          </a:p>
        </p:txBody>
      </p:sp>
      <p:sp>
        <p:nvSpPr>
          <p:cNvPr id="1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043608" y="6408000"/>
            <a:ext cx="7524000" cy="180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Kienbaum Institut @ ISM 2015 · Autor/Autor/Autor</a:t>
            </a:r>
            <a:endParaRPr lang="de-DE"/>
          </a:p>
        </p:txBody>
      </p:sp>
      <p:sp>
        <p:nvSpPr>
          <p:cNvPr id="17" name="Datumsplatzhalter 9"/>
          <p:cNvSpPr>
            <a:spLocks noGrp="1"/>
          </p:cNvSpPr>
          <p:nvPr>
            <p:ph type="dt" sz="half" idx="2"/>
          </p:nvPr>
        </p:nvSpPr>
        <p:spPr>
          <a:xfrm>
            <a:off x="324000" y="6408000"/>
            <a:ext cx="684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4953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043608" y="6408000"/>
            <a:ext cx="7524000" cy="18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ISM 2015 · Autor/Autor/Autor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568000" y="6408000"/>
            <a:ext cx="252000" cy="18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1FD52-6552-4A22-ABF0-280D6EB48E6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Datumsplatzhalter 9"/>
          <p:cNvSpPr>
            <a:spLocks noGrp="1"/>
          </p:cNvSpPr>
          <p:nvPr>
            <p:ph type="dt" sz="half" idx="2"/>
          </p:nvPr>
        </p:nvSpPr>
        <p:spPr>
          <a:xfrm>
            <a:off x="324000" y="6408000"/>
            <a:ext cx="684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00001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850" y="1196976"/>
            <a:ext cx="4103688" cy="1727954"/>
          </a:xfrm>
        </p:spPr>
        <p:txBody>
          <a:bodyPr/>
          <a:lstStyle>
            <a:lvl3pPr marL="0" indent="0">
              <a:buNone/>
              <a:defRPr/>
            </a:lvl3pPr>
            <a:lvl4pPr marL="144000" indent="0">
              <a:buNone/>
              <a:defRPr/>
            </a:lvl4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043608" y="6408000"/>
            <a:ext cx="7524000" cy="18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ISM 2015 · Autor/Autor/Autor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568000" y="6408000"/>
            <a:ext cx="252000" cy="180000"/>
          </a:xfrm>
          <a:prstGeom prst="rect">
            <a:avLst/>
          </a:prstGeom>
        </p:spPr>
        <p:txBody>
          <a:bodyPr/>
          <a:lstStyle/>
          <a:p>
            <a:fld id="{8B81FD52-6552-4A22-ABF0-280D6EB48E63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Datumsplatzhalter 9"/>
          <p:cNvSpPr>
            <a:spLocks noGrp="1"/>
          </p:cNvSpPr>
          <p:nvPr>
            <p:ph type="dt" sz="half" idx="2"/>
          </p:nvPr>
        </p:nvSpPr>
        <p:spPr>
          <a:xfrm>
            <a:off x="324000" y="6408000"/>
            <a:ext cx="684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060000"/>
            <a:ext cx="4103688" cy="3177288"/>
          </a:xfrm>
        </p:spPr>
        <p:txBody>
          <a:bodyPr/>
          <a:lstStyle>
            <a:lvl1pPr marL="180000" indent="-180000">
              <a:buFont typeface="Arial" panose="020B0604020202020204" pitchFamily="34" charset="0"/>
              <a:buChar char="•"/>
              <a:defRPr sz="1650"/>
            </a:lvl1pPr>
          </a:lstStyle>
          <a:p>
            <a:pPr lvl="0"/>
            <a:r>
              <a:rPr lang="de-DE"/>
              <a:t>Text</a:t>
            </a:r>
            <a:br>
              <a:rPr lang="de-DE"/>
            </a:br>
            <a:endParaRPr lang="de-DE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716000" y="3060000"/>
            <a:ext cx="4103688" cy="3177288"/>
          </a:xfrm>
        </p:spPr>
        <p:txBody>
          <a:bodyPr/>
          <a:lstStyle>
            <a:lvl1pPr marL="180000" indent="-180000">
              <a:buFont typeface="Arial" panose="020B0604020202020204" pitchFamily="34" charset="0"/>
              <a:buChar char="•"/>
              <a:defRPr sz="1650"/>
            </a:lvl1pPr>
          </a:lstStyle>
          <a:p>
            <a:pPr lvl="0"/>
            <a:r>
              <a:rPr lang="de-DE"/>
              <a:t>Text</a:t>
            </a:r>
            <a:br>
              <a:rPr lang="de-DE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6927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1043608" y="6408000"/>
            <a:ext cx="7524000" cy="18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ISM 2015 · Autor/Autor/Autor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8568000" y="6408000"/>
            <a:ext cx="252000" cy="180000"/>
          </a:xfrm>
          <a:prstGeom prst="rect">
            <a:avLst/>
          </a:prstGeom>
        </p:spPr>
        <p:txBody>
          <a:bodyPr/>
          <a:lstStyle/>
          <a:p>
            <a:fld id="{8B81FD52-6552-4A22-ABF0-280D6EB48E63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Datumsplatzhalter 9"/>
          <p:cNvSpPr>
            <a:spLocks noGrp="1"/>
          </p:cNvSpPr>
          <p:nvPr>
            <p:ph type="dt" sz="half" idx="13"/>
          </p:nvPr>
        </p:nvSpPr>
        <p:spPr>
          <a:xfrm>
            <a:off x="324000" y="6408000"/>
            <a:ext cx="684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0" name="Inhaltsplatzhalter 9"/>
          <p:cNvSpPr>
            <a:spLocks noGrp="1"/>
          </p:cNvSpPr>
          <p:nvPr>
            <p:ph sz="quarter" idx="14"/>
          </p:nvPr>
        </p:nvSpPr>
        <p:spPr>
          <a:xfrm>
            <a:off x="323850" y="1196975"/>
            <a:ext cx="4103688" cy="5040313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Inhaltsplatzhalter 9"/>
          <p:cNvSpPr>
            <a:spLocks noGrp="1"/>
          </p:cNvSpPr>
          <p:nvPr>
            <p:ph sz="quarter" idx="15"/>
          </p:nvPr>
        </p:nvSpPr>
        <p:spPr>
          <a:xfrm>
            <a:off x="4716000" y="1198800"/>
            <a:ext cx="4103688" cy="50384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583417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1043608" y="6408000"/>
            <a:ext cx="7524000" cy="18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ISM 2015 · Autor/Autor/Autor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8568000" y="6408000"/>
            <a:ext cx="252000" cy="180000"/>
          </a:xfrm>
          <a:prstGeom prst="rect">
            <a:avLst/>
          </a:prstGeom>
        </p:spPr>
        <p:txBody>
          <a:bodyPr/>
          <a:lstStyle/>
          <a:p>
            <a:fld id="{8B81FD52-6552-4A22-ABF0-280D6EB48E63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Datumsplatzhalter 9"/>
          <p:cNvSpPr>
            <a:spLocks noGrp="1"/>
          </p:cNvSpPr>
          <p:nvPr>
            <p:ph type="dt" sz="half" idx="13"/>
          </p:nvPr>
        </p:nvSpPr>
        <p:spPr>
          <a:xfrm>
            <a:off x="324000" y="6408000"/>
            <a:ext cx="684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0" name="Inhaltsplatzhalter 9"/>
          <p:cNvSpPr>
            <a:spLocks noGrp="1"/>
          </p:cNvSpPr>
          <p:nvPr>
            <p:ph sz="quarter" idx="14"/>
          </p:nvPr>
        </p:nvSpPr>
        <p:spPr>
          <a:xfrm>
            <a:off x="323850" y="1196975"/>
            <a:ext cx="4103688" cy="5040313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5"/>
          </p:nvPr>
        </p:nvSpPr>
        <p:spPr>
          <a:xfrm>
            <a:off x="4715999" y="1196975"/>
            <a:ext cx="4104000" cy="5040313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6757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1043608" y="6408000"/>
            <a:ext cx="7524000" cy="18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ISM 2015 · Autor/Autor/Autor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8568000" y="6408000"/>
            <a:ext cx="252000" cy="18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1FD52-6552-4A22-ABF0-280D6EB48E6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Datumsplatzhalter 9"/>
          <p:cNvSpPr>
            <a:spLocks noGrp="1"/>
          </p:cNvSpPr>
          <p:nvPr>
            <p:ph type="dt" sz="half" idx="13"/>
          </p:nvPr>
        </p:nvSpPr>
        <p:spPr>
          <a:xfrm>
            <a:off x="324000" y="6408000"/>
            <a:ext cx="684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0" name="Inhaltsplatzhalter 9"/>
          <p:cNvSpPr>
            <a:spLocks noGrp="1"/>
          </p:cNvSpPr>
          <p:nvPr>
            <p:ph sz="quarter" idx="14"/>
          </p:nvPr>
        </p:nvSpPr>
        <p:spPr>
          <a:xfrm>
            <a:off x="323850" y="1196975"/>
            <a:ext cx="4103688" cy="93584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5"/>
          </p:nvPr>
        </p:nvSpPr>
        <p:spPr>
          <a:xfrm>
            <a:off x="323850" y="2412000"/>
            <a:ext cx="4104000" cy="2772000"/>
          </a:xfrm>
        </p:spPr>
        <p:txBody>
          <a:bodyPr/>
          <a:lstStyle/>
          <a:p>
            <a:endParaRPr lang="de-DE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6" hasCustomPrompt="1"/>
          </p:nvPr>
        </p:nvSpPr>
        <p:spPr>
          <a:xfrm>
            <a:off x="4716000" y="2304000"/>
            <a:ext cx="4103688" cy="3240000"/>
          </a:xfrm>
        </p:spPr>
        <p:txBody>
          <a:bodyPr/>
          <a:lstStyle>
            <a:lvl1pPr marL="180000" indent="-180000">
              <a:buFont typeface="Arial" panose="020B0604020202020204" pitchFamily="34" charset="0"/>
              <a:buChar char="•"/>
              <a:defRPr sz="1650"/>
            </a:lvl1pPr>
          </a:lstStyle>
          <a:p>
            <a:pPr lvl="0"/>
            <a:r>
              <a:rPr lang="de-DE"/>
              <a:t>Text</a:t>
            </a:r>
            <a:br>
              <a:rPr lang="de-DE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7618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1043608" y="6408000"/>
            <a:ext cx="7524000" cy="18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>
                <a:solidFill>
                  <a:schemeClr val="tx1"/>
                </a:solidFill>
              </a:rPr>
              <a:t>Prof. Dr. Ulrich Lichtenthaler -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8568000" y="6408000"/>
            <a:ext cx="252000" cy="18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1FD52-6552-4A22-ABF0-280D6EB48E63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Datumsplatzhalter 9"/>
          <p:cNvSpPr>
            <a:spLocks noGrp="1"/>
          </p:cNvSpPr>
          <p:nvPr>
            <p:ph type="dt" sz="half" idx="2"/>
          </p:nvPr>
        </p:nvSpPr>
        <p:spPr>
          <a:xfrm>
            <a:off x="324000" y="6408000"/>
            <a:ext cx="684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0073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1043608" y="6408000"/>
            <a:ext cx="7524000" cy="18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ISM 2015 · Autor/Autor/Autor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8568000" y="6408000"/>
            <a:ext cx="252000" cy="18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1FD52-6552-4A22-ABF0-280D6EB48E6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Datumsplatzhalter 9"/>
          <p:cNvSpPr>
            <a:spLocks noGrp="1"/>
          </p:cNvSpPr>
          <p:nvPr>
            <p:ph type="dt" sz="half" idx="2"/>
          </p:nvPr>
        </p:nvSpPr>
        <p:spPr>
          <a:xfrm>
            <a:off x="324000" y="6408000"/>
            <a:ext cx="684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323850" y="1260000"/>
            <a:ext cx="8496150" cy="4977288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0137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1043608" y="6408000"/>
            <a:ext cx="7524000" cy="18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ISM 2015 · Autor/Autor/Autor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8568000" y="6408000"/>
            <a:ext cx="252000" cy="18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1FD52-6552-4A22-ABF0-280D6EB48E6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Datumsplatzhalter 9"/>
          <p:cNvSpPr>
            <a:spLocks noGrp="1"/>
          </p:cNvSpPr>
          <p:nvPr>
            <p:ph type="dt" sz="half" idx="2"/>
          </p:nvPr>
        </p:nvSpPr>
        <p:spPr>
          <a:xfrm>
            <a:off x="324000" y="6408000"/>
            <a:ext cx="684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6577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0" tIns="135000" rIns="135000" bIns="135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350"/>
          </a:p>
        </p:txBody>
      </p:sp>
      <p:sp>
        <p:nvSpPr>
          <p:cNvPr id="7" name="Textfeld 6"/>
          <p:cNvSpPr txBox="1"/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35000" tIns="135000" rIns="135000" bIns="135000" rtlCol="0" anchor="ctr">
            <a:noAutofit/>
          </a:bodyPr>
          <a:lstStyle/>
          <a:p>
            <a:pPr marL="0" algn="ctr">
              <a:lnSpc>
                <a:spcPct val="110000"/>
              </a:lnSpc>
              <a:spcAft>
                <a:spcPts val="450"/>
              </a:spcAft>
            </a:pPr>
            <a:endParaRPr lang="de-DE" sz="4950" b="1" dirty="0">
              <a:solidFill>
                <a:schemeClr val="bg1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962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ussdiagramm: Daten 11"/>
          <p:cNvSpPr/>
          <p:nvPr userDrawn="1"/>
        </p:nvSpPr>
        <p:spPr>
          <a:xfrm>
            <a:off x="-1087757" y="-12078"/>
            <a:ext cx="4341930" cy="6870078"/>
          </a:xfrm>
          <a:prstGeom prst="flowChartInputOutpu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0" tIns="135000" rIns="135000" bIns="135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350" dirty="0"/>
          </a:p>
        </p:txBody>
      </p:sp>
      <p:sp>
        <p:nvSpPr>
          <p:cNvPr id="11" name="Flussdiagramm: Daten 10"/>
          <p:cNvSpPr/>
          <p:nvPr userDrawn="1"/>
        </p:nvSpPr>
        <p:spPr>
          <a:xfrm>
            <a:off x="1229065" y="-12078"/>
            <a:ext cx="4341930" cy="6870078"/>
          </a:xfrm>
          <a:prstGeom prst="flowChartInputOutpu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0" tIns="135000" rIns="135000" bIns="135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350" dirty="0"/>
          </a:p>
        </p:txBody>
      </p:sp>
      <p:sp>
        <p:nvSpPr>
          <p:cNvPr id="9" name="Flussdiagramm: Daten 8"/>
          <p:cNvSpPr/>
          <p:nvPr userDrawn="1"/>
        </p:nvSpPr>
        <p:spPr>
          <a:xfrm>
            <a:off x="3545886" y="-12078"/>
            <a:ext cx="4341930" cy="6870078"/>
          </a:xfrm>
          <a:prstGeom prst="flowChartInputOutput">
            <a:avLst/>
          </a:prstGeom>
          <a:solidFill>
            <a:srgbClr val="FFC76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0" tIns="135000" rIns="135000" bIns="135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350" dirty="0"/>
          </a:p>
        </p:txBody>
      </p:sp>
      <p:sp>
        <p:nvSpPr>
          <p:cNvPr id="7" name="Flussdiagramm: Daten 6"/>
          <p:cNvSpPr/>
          <p:nvPr userDrawn="1"/>
        </p:nvSpPr>
        <p:spPr>
          <a:xfrm>
            <a:off x="6030162" y="-12078"/>
            <a:ext cx="4341930" cy="6870078"/>
          </a:xfrm>
          <a:prstGeom prst="flowChartInputOutput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0" tIns="135000" rIns="135000" bIns="135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350" dirty="0"/>
          </a:p>
        </p:txBody>
      </p:sp>
    </p:spTree>
    <p:extLst>
      <p:ext uri="{BB962C8B-B14F-4D97-AF65-F5344CB8AC3E}">
        <p14:creationId xmlns:p14="http://schemas.microsoft.com/office/powerpoint/2010/main" val="72082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9E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0" tIns="135000" rIns="135000" bIns="135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3000" dirty="0"/>
          </a:p>
        </p:txBody>
      </p:sp>
    </p:spTree>
    <p:extLst>
      <p:ext uri="{BB962C8B-B14F-4D97-AF65-F5344CB8AC3E}">
        <p14:creationId xmlns:p14="http://schemas.microsoft.com/office/powerpoint/2010/main" val="127027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0" tIns="135000" rIns="135000" bIns="135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3000" dirty="0"/>
          </a:p>
        </p:txBody>
      </p:sp>
    </p:spTree>
    <p:extLst>
      <p:ext uri="{BB962C8B-B14F-4D97-AF65-F5344CB8AC3E}">
        <p14:creationId xmlns:p14="http://schemas.microsoft.com/office/powerpoint/2010/main" val="3206930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0" tIns="135000" rIns="135000" bIns="135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3000" dirty="0"/>
          </a:p>
        </p:txBody>
      </p:sp>
    </p:spTree>
    <p:extLst>
      <p:ext uri="{BB962C8B-B14F-4D97-AF65-F5344CB8AC3E}">
        <p14:creationId xmlns:p14="http://schemas.microsoft.com/office/powerpoint/2010/main" val="1725792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0" tIns="135000" rIns="135000" bIns="135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3000" dirty="0"/>
          </a:p>
        </p:txBody>
      </p:sp>
    </p:spTree>
    <p:extLst>
      <p:ext uri="{BB962C8B-B14F-4D97-AF65-F5344CB8AC3E}">
        <p14:creationId xmlns:p14="http://schemas.microsoft.com/office/powerpoint/2010/main" val="4673723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0" tIns="135000" rIns="135000" bIns="135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3600" b="1" dirty="0">
                <a:solidFill>
                  <a:schemeClr val="accent3"/>
                </a:solidFill>
              </a:rPr>
              <a:t>Zusammenfassung</a:t>
            </a:r>
          </a:p>
        </p:txBody>
      </p:sp>
      <p:sp>
        <p:nvSpPr>
          <p:cNvPr id="4" name="Rechteck 3"/>
          <p:cNvSpPr/>
          <p:nvPr userDrawn="1"/>
        </p:nvSpPr>
        <p:spPr>
          <a:xfrm>
            <a:off x="0" y="1052736"/>
            <a:ext cx="9144000" cy="58052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0" tIns="135000" rIns="135000" bIns="135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350" dirty="0"/>
          </a:p>
        </p:txBody>
      </p:sp>
    </p:spTree>
    <p:extLst>
      <p:ext uri="{BB962C8B-B14F-4D97-AF65-F5344CB8AC3E}">
        <p14:creationId xmlns:p14="http://schemas.microsoft.com/office/powerpoint/2010/main" val="2549464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e 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2139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3"/>
          <p:cNvSpPr txBox="1">
            <a:spLocks/>
          </p:cNvSpPr>
          <p:nvPr userDrawn="1"/>
        </p:nvSpPr>
        <p:spPr>
          <a:xfrm>
            <a:off x="1" y="692697"/>
            <a:ext cx="9138461" cy="5823302"/>
          </a:xfrm>
          <a:prstGeom prst="rect">
            <a:avLst/>
          </a:prstGeom>
        </p:spPr>
        <p:txBody>
          <a:bodyPr lIns="135000" tIns="135000" rIns="135000" bIns="135000"/>
          <a:lstStyle>
            <a:lvl1pPr marL="180975" indent="-180975" algn="l" defTabSz="107279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266700" algn="l" defTabSz="1072798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40997" indent="-268199" algn="l" defTabSz="1072798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77396" indent="-268199" algn="l" defTabSz="1072798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13795" indent="-268199" algn="l" defTabSz="1072798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50194" indent="-268199" algn="l" defTabSz="107279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86593" indent="-268199" algn="l" defTabSz="107279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22992" indent="-268199" algn="l" defTabSz="107279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59390" indent="-268199" algn="l" defTabSz="107279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dirty="0">
                <a:solidFill>
                  <a:schemeClr val="accent1"/>
                </a:solidFill>
              </a:rPr>
              <a:t>Formatvorlagen des Textmasters bearbeiten</a:t>
            </a:r>
          </a:p>
          <a:p>
            <a:pPr lvl="1"/>
            <a:r>
              <a:rPr lang="de-DE" sz="1800" dirty="0">
                <a:solidFill>
                  <a:schemeClr val="accent1"/>
                </a:solidFill>
              </a:rPr>
              <a:t>Zweite Ebene</a:t>
            </a:r>
          </a:p>
          <a:p>
            <a:pPr lvl="2"/>
            <a:r>
              <a:rPr lang="de-DE" sz="1350" dirty="0">
                <a:solidFill>
                  <a:schemeClr val="accent1"/>
                </a:solidFill>
              </a:rPr>
              <a:t>Dritte Ebene</a:t>
            </a:r>
          </a:p>
          <a:p>
            <a:pPr lvl="3"/>
            <a:r>
              <a:rPr lang="de-DE" sz="1350" dirty="0">
                <a:solidFill>
                  <a:schemeClr val="accent1"/>
                </a:solidFill>
              </a:rPr>
              <a:t>Vierte Ebene</a:t>
            </a:r>
          </a:p>
          <a:p>
            <a:pPr lvl="4"/>
            <a:r>
              <a:rPr lang="de-DE" sz="1350" dirty="0">
                <a:solidFill>
                  <a:schemeClr val="accent1"/>
                </a:solidFill>
              </a:rPr>
              <a:t>Fünfte Ebene</a:t>
            </a:r>
          </a:p>
        </p:txBody>
      </p:sp>
      <p:sp>
        <p:nvSpPr>
          <p:cNvPr id="4" name="Titel 1"/>
          <p:cNvSpPr txBox="1">
            <a:spLocks/>
          </p:cNvSpPr>
          <p:nvPr userDrawn="1"/>
        </p:nvSpPr>
        <p:spPr>
          <a:xfrm>
            <a:off x="0" y="0"/>
            <a:ext cx="7244308" cy="548680"/>
          </a:xfrm>
          <a:prstGeom prst="rect">
            <a:avLst/>
          </a:prstGeom>
        </p:spPr>
        <p:txBody>
          <a:bodyPr lIns="135000" tIns="27000" rIns="27000" bIns="27000" anchor="ctr" anchorCtr="0">
            <a:noAutofit/>
          </a:bodyPr>
          <a:lstStyle>
            <a:lvl1pPr algn="l" defTabSz="1072798" rtl="0" eaLnBrk="1" latinLnBrk="0" hangingPunct="1">
              <a:spcBef>
                <a:spcPct val="0"/>
              </a:spcBef>
              <a:buNone/>
              <a:defRPr kumimoji="0" lang="de-DE" sz="2800" b="0" i="0" u="none" strike="noStrike" kern="1200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de-DE" sz="2100" dirty="0">
                <a:solidFill>
                  <a:schemeClr val="accent1"/>
                </a:solidFill>
              </a:rPr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0897277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7244308" cy="548680"/>
          </a:xfrm>
          <a:prstGeom prst="rect">
            <a:avLst/>
          </a:prstGeom>
        </p:spPr>
        <p:txBody>
          <a:bodyPr lIns="180000" tIns="36000" rIns="36000" bIns="36000" anchor="ctr" anchorCtr="0">
            <a:noAutofit/>
          </a:bodyPr>
          <a:lstStyle>
            <a:lvl1pPr>
              <a:defRPr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/>
          </p:nvPr>
        </p:nvSpPr>
        <p:spPr>
          <a:xfrm>
            <a:off x="1" y="6625241"/>
            <a:ext cx="1377081" cy="188119"/>
          </a:xfrm>
          <a:prstGeom prst="rect">
            <a:avLst/>
          </a:prstGeom>
        </p:spPr>
        <p:txBody>
          <a:bodyPr wrap="none" lIns="180000" tIns="36000" rIns="36000" bIns="36000" anchor="ctr" anchorCtr="0">
            <a:spAutoFit/>
          </a:bodyPr>
          <a:lstStyle>
            <a:lvl1pPr marL="0" indent="0">
              <a:spcBef>
                <a:spcPts val="0"/>
              </a:spcBef>
              <a:buNone/>
              <a:defRPr sz="750" i="1">
                <a:solidFill>
                  <a:schemeClr val="accent1"/>
                </a:solidFill>
              </a:defRPr>
            </a:lvl1pPr>
            <a:lvl2pPr>
              <a:defRPr sz="750" i="1">
                <a:solidFill>
                  <a:schemeClr val="accent1"/>
                </a:solidFill>
              </a:defRPr>
            </a:lvl2pPr>
            <a:lvl3pPr>
              <a:defRPr sz="750" i="1">
                <a:solidFill>
                  <a:schemeClr val="accent1"/>
                </a:solidFill>
              </a:defRPr>
            </a:lvl3pPr>
            <a:lvl4pPr>
              <a:defRPr sz="750" i="1">
                <a:solidFill>
                  <a:schemeClr val="accent1"/>
                </a:solidFill>
              </a:defRPr>
            </a:lvl4pPr>
            <a:lvl5pPr>
              <a:defRPr sz="750" i="1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506366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SM_01_nur_Textf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7244308" cy="548680"/>
          </a:xfrm>
          <a:prstGeom prst="rect">
            <a:avLst/>
          </a:prstGeom>
        </p:spPr>
        <p:txBody>
          <a:bodyPr lIns="180000" tIns="36000" rIns="36000" bIns="36000" anchor="ctr" anchorCtr="0">
            <a:noAutofit/>
          </a:bodyPr>
          <a:lstStyle>
            <a:lvl1pPr>
              <a:defRPr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" y="692697"/>
            <a:ext cx="9138461" cy="5823302"/>
          </a:xfrm>
          <a:prstGeom prst="rect">
            <a:avLst/>
          </a:prstGeom>
        </p:spPr>
        <p:txBody>
          <a:bodyPr lIns="180000" tIns="180000" rIns="180000" bIns="180000"/>
          <a:lstStyle>
            <a:lvl1pPr marL="135731" indent="-13573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tx1"/>
                </a:solidFill>
              </a:defRPr>
            </a:lvl1pPr>
            <a:lvl2pPr marL="335756" indent="-200025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sz="1800"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spcBef>
                <a:spcPts val="0"/>
              </a:spcBef>
              <a:spcAft>
                <a:spcPts val="450"/>
              </a:spcAft>
              <a:defRPr sz="1350"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spcBef>
                <a:spcPts val="0"/>
              </a:spcBef>
              <a:spcAft>
                <a:spcPts val="450"/>
              </a:spcAft>
              <a:defRPr sz="1350"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spcBef>
                <a:spcPts val="0"/>
              </a:spcBef>
              <a:spcAft>
                <a:spcPts val="450"/>
              </a:spcAft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 dirty="0"/>
              <a:t>Erste Ebene </a:t>
            </a:r>
          </a:p>
          <a:p>
            <a:pPr lvl="1"/>
            <a:r>
              <a:rPr lang="de-DE" noProof="0" dirty="0"/>
              <a:t>Zweite Ebene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/>
          </p:nvPr>
        </p:nvSpPr>
        <p:spPr>
          <a:xfrm>
            <a:off x="1" y="6625238"/>
            <a:ext cx="1377081" cy="188119"/>
          </a:xfrm>
          <a:prstGeom prst="rect">
            <a:avLst/>
          </a:prstGeom>
        </p:spPr>
        <p:txBody>
          <a:bodyPr wrap="none" lIns="180000" tIns="36000" rIns="36000" bIns="36000" anchor="ctr" anchorCtr="0">
            <a:spAutoFit/>
          </a:bodyPr>
          <a:lstStyle>
            <a:lvl1pPr marL="0" indent="0">
              <a:spcBef>
                <a:spcPts val="0"/>
              </a:spcBef>
              <a:buNone/>
              <a:defRPr sz="750" i="1">
                <a:solidFill>
                  <a:schemeClr val="accent1"/>
                </a:solidFill>
              </a:defRPr>
            </a:lvl1pPr>
            <a:lvl2pPr>
              <a:defRPr sz="750" i="1">
                <a:solidFill>
                  <a:schemeClr val="accent1"/>
                </a:solidFill>
              </a:defRPr>
            </a:lvl2pPr>
            <a:lvl3pPr>
              <a:defRPr sz="750" i="1">
                <a:solidFill>
                  <a:schemeClr val="accent1"/>
                </a:solidFill>
              </a:defRPr>
            </a:lvl3pPr>
            <a:lvl4pPr>
              <a:defRPr sz="750" i="1">
                <a:solidFill>
                  <a:schemeClr val="accent1"/>
                </a:solidFill>
              </a:defRPr>
            </a:lvl4pPr>
            <a:lvl5pPr>
              <a:defRPr sz="750" i="1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145377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EC6262-C6D0-4853-9523-B0DAD8E5C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28A6839-34C8-4D17-B220-6DA523070C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2112028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83553" y="1142984"/>
            <a:ext cx="8276521" cy="5019536"/>
          </a:xfrm>
          <a:prstGeom prst="rect">
            <a:avLst/>
          </a:prstGeom>
        </p:spPr>
        <p:txBody>
          <a:bodyPr/>
          <a:lstStyle>
            <a:lvl1pPr marL="257175" indent="-257175">
              <a:buClr>
                <a:srgbClr val="00AEEF"/>
              </a:buClr>
              <a:buSzPct val="100000"/>
              <a:buFont typeface="Arial" pitchFamily="34" charset="0"/>
              <a:buChar char="■"/>
              <a:defRPr sz="15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36972" indent="-265510">
              <a:buClr>
                <a:srgbClr val="00AEEF"/>
              </a:buClr>
              <a:buFont typeface="Wingdings" pitchFamily="2" charset="2"/>
              <a:buChar char="v"/>
              <a:tabLst>
                <a:tab pos="536972" algn="l"/>
              </a:tabLs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741760" indent="-207169">
              <a:buClr>
                <a:srgbClr val="00AEEF"/>
              </a:buClr>
              <a:buFont typeface="Symbol" pitchFamily="18" charset="2"/>
              <a:buChar char="-"/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940594" indent="-200025">
              <a:buClr>
                <a:srgbClr val="00AEEF"/>
              </a:buClr>
              <a:buFont typeface="Symbol" pitchFamily="18" charset="2"/>
              <a:buChar char="-"/>
              <a:defRPr sz="12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50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Zeile 2</a:t>
            </a:r>
          </a:p>
          <a:p>
            <a:pPr lvl="2"/>
            <a:r>
              <a:rPr lang="de-DE" dirty="0"/>
              <a:t>Zeile 3</a:t>
            </a:r>
          </a:p>
          <a:p>
            <a:pPr lvl="3"/>
            <a:r>
              <a:rPr lang="de-DE" dirty="0"/>
              <a:t>Zeile 4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>
          <a:xfrm>
            <a:off x="1381863" y="71414"/>
            <a:ext cx="6223509" cy="785818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de-DE" dirty="0"/>
              <a:t>Titelmasterformat durch Klicken bearbeiten</a:t>
            </a:r>
            <a:br>
              <a:rPr lang="de-DE" dirty="0"/>
            </a:br>
            <a:r>
              <a:rPr lang="de-DE" dirty="0"/>
              <a:t>Zeile 2</a:t>
            </a:r>
          </a:p>
        </p:txBody>
      </p:sp>
      <p:sp>
        <p:nvSpPr>
          <p:cNvPr id="11" name="Fußzeilenplatzhalter 9"/>
          <p:cNvSpPr>
            <a:spLocks noGrp="1"/>
          </p:cNvSpPr>
          <p:nvPr>
            <p:ph type="ftr" sz="quarter" idx="3"/>
          </p:nvPr>
        </p:nvSpPr>
        <p:spPr>
          <a:xfrm>
            <a:off x="2329947" y="6326698"/>
            <a:ext cx="4484108" cy="4146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900" u="none" kern="120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Vorlesung IT-Services HS Esslingen, SoSe 2020</a:t>
            </a:r>
            <a:endParaRPr lang="en-US" dirty="0"/>
          </a:p>
        </p:txBody>
      </p:sp>
      <p:sp>
        <p:nvSpPr>
          <p:cNvPr id="12" name="Foliennummernplatzhalter 10"/>
          <p:cNvSpPr>
            <a:spLocks noGrp="1"/>
          </p:cNvSpPr>
          <p:nvPr>
            <p:ph type="sldNum" sz="quarter" idx="4"/>
          </p:nvPr>
        </p:nvSpPr>
        <p:spPr>
          <a:xfrm>
            <a:off x="4" y="6316894"/>
            <a:ext cx="1208919" cy="395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900" u="none" kern="120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algn="l"/>
            <a:fld id="{12E9AB5D-3F75-480A-93C5-56366206A804}" type="slidenum">
              <a:rPr lang="de-DE" smtClean="0"/>
              <a:pPr algn="l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5203088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9191B9-2414-4252-83A9-B9F8CF6F9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00DB736-1FF4-40DC-B6B5-BFC6789E4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0C3746-CB0A-4D7E-9BAE-408F8D1FD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6743133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Hauptte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106974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tags" Target="../tags/tag1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vmlDrawing" Target="../drawings/vmlDrawing1.vml"/><Relationship Id="rId2" Type="http://schemas.openxmlformats.org/officeDocument/2006/relationships/slideLayout" Target="../slideLayouts/slideLayout11.xml"/><Relationship Id="rId16" Type="http://schemas.openxmlformats.org/officeDocument/2006/relationships/theme" Target="../theme/theme2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23999" y="215999"/>
            <a:ext cx="6804000" cy="79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23850" y="1196976"/>
            <a:ext cx="8496150" cy="50403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126306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2" r:id="rId4"/>
    <p:sldLayoutId id="2147483657" r:id="rId5"/>
    <p:sldLayoutId id="2147483659" r:id="rId6"/>
    <p:sldLayoutId id="2147483654" r:id="rId7"/>
    <p:sldLayoutId id="2147483658" r:id="rId8"/>
    <p:sldLayoutId id="2147483655" r:id="rId9"/>
  </p:sldLayoutIdLst>
  <p:hf hdr="0" dt="0"/>
  <p:txStyles>
    <p:titleStyle>
      <a:lvl1pPr algn="l" defTabSz="914288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288" rtl="0" eaLnBrk="1" latinLnBrk="0" hangingPunct="1">
        <a:lnSpc>
          <a:spcPts val="2900"/>
        </a:lnSpc>
        <a:spcBef>
          <a:spcPts val="0"/>
        </a:spcBef>
        <a:buFontTx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288" rtl="0" eaLnBrk="1" latinLnBrk="0" hangingPunct="1">
        <a:lnSpc>
          <a:spcPts val="2900"/>
        </a:lnSpc>
        <a:spcBef>
          <a:spcPts val="0"/>
        </a:spcBef>
        <a:buFont typeface="Arial" panose="020B0604020202020204" pitchFamily="34" charset="0"/>
        <a:buNone/>
        <a:defRPr sz="165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288" rtl="0" eaLnBrk="1" latinLnBrk="0" hangingPunct="1">
        <a:lnSpc>
          <a:spcPts val="29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468000" indent="-288000" algn="l" defTabSz="914288" rtl="0" eaLnBrk="1" latinLnBrk="0" hangingPunct="1">
        <a:lnSpc>
          <a:spcPts val="2900"/>
        </a:lnSpc>
        <a:spcBef>
          <a:spcPts val="0"/>
        </a:spcBef>
        <a:buFont typeface="+mj-lt"/>
        <a:buAutoNum type="arabicPeriod"/>
        <a:defRPr sz="1650" kern="1200">
          <a:solidFill>
            <a:schemeClr val="tx1"/>
          </a:solidFill>
          <a:latin typeface="+mn-lt"/>
          <a:ea typeface="+mn-ea"/>
          <a:cs typeface="+mn-cs"/>
        </a:defRPr>
      </a:lvl4pPr>
      <a:lvl5pPr marL="468000" indent="0" algn="l" defTabSz="914288" rtl="0" eaLnBrk="1" latinLnBrk="0" hangingPunct="1">
        <a:lnSpc>
          <a:spcPts val="2900"/>
        </a:lnSpc>
        <a:spcBef>
          <a:spcPts val="0"/>
        </a:spcBef>
        <a:buFontTx/>
        <a:buNone/>
        <a:defRPr sz="16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90" indent="-228572" algn="l" defTabSz="91428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34" indent="-228572" algn="l" defTabSz="91428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8" indent="-228572" algn="l" defTabSz="91428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21" indent="-228572" algn="l" defTabSz="91428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3" algn="l" defTabSz="9142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8" algn="l" defTabSz="9142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1" algn="l" defTabSz="9142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5" algn="l" defTabSz="9142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8" algn="l" defTabSz="9142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62" algn="l" defTabSz="9142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6" algn="l" defTabSz="9142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9" algn="l" defTabSz="9142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8"/>
            </p:custDataLst>
          </p:nvPr>
        </p:nvGraphicFramePr>
        <p:xfrm>
          <a:off x="1467" y="1590"/>
          <a:ext cx="146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think-cell Folie" r:id="rId19" imgW="360" imgH="360" progId="TCLayout.ActiveDocument.1">
                  <p:embed/>
                </p:oleObj>
              </mc:Choice>
              <mc:Fallback>
                <p:oleObj name="think-cell Folie" r:id="rId19" imgW="360" imgH="360" progId="TCLayout.ActiveDocument.1">
                  <p:embed/>
                  <p:pic>
                    <p:nvPicPr>
                      <p:cNvPr id="2" name="Objek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7" y="1590"/>
                        <a:ext cx="146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platzhalter 5"/>
          <p:cNvSpPr txBox="1">
            <a:spLocks/>
          </p:cNvSpPr>
          <p:nvPr userDrawn="1"/>
        </p:nvSpPr>
        <p:spPr>
          <a:xfrm>
            <a:off x="-72516" y="6659733"/>
            <a:ext cx="665322" cy="169944"/>
          </a:xfrm>
          <a:prstGeom prst="rect">
            <a:avLst/>
          </a:prstGeom>
        </p:spPr>
        <p:txBody>
          <a:bodyPr wrap="none" lIns="135000" tIns="27000" rIns="27000" bIns="27000" anchor="ctr" anchorCtr="0">
            <a:spAutoFit/>
          </a:bodyPr>
          <a:lstStyle>
            <a:lvl1pPr marL="0" indent="0" algn="l" defTabSz="1072798" rtl="0" eaLnBrk="1" latinLnBrk="0" hangingPunct="1">
              <a:spcBef>
                <a:spcPts val="0"/>
              </a:spcBef>
              <a:buFont typeface="Arial" pitchFamily="34" charset="0"/>
              <a:buNone/>
              <a:defRPr sz="1000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871648" indent="-335249" algn="l" defTabSz="107279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340997" indent="-268199" algn="l" defTabSz="107279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877396" indent="-268199" algn="l" defTabSz="107279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413795" indent="-268199" algn="l" defTabSz="107279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950194" indent="-268199" algn="l" defTabSz="107279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86593" indent="-268199" algn="l" defTabSz="107279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22992" indent="-268199" algn="l" defTabSz="107279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59390" indent="-268199" algn="l" defTabSz="107279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750" dirty="0"/>
              <a:t>Modulmarke</a:t>
            </a:r>
          </a:p>
        </p:txBody>
      </p:sp>
    </p:spTree>
    <p:extLst>
      <p:ext uri="{BB962C8B-B14F-4D97-AF65-F5344CB8AC3E}">
        <p14:creationId xmlns:p14="http://schemas.microsoft.com/office/powerpoint/2010/main" val="242595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</p:sldLayoutIdLst>
  <p:txStyles>
    <p:titleStyle>
      <a:lvl1pPr algn="l" defTabSz="804599" rtl="0" eaLnBrk="1" latinLnBrk="0" hangingPunct="1">
        <a:spcBef>
          <a:spcPct val="0"/>
        </a:spcBef>
        <a:buNone/>
        <a:defRPr kumimoji="0" lang="de-DE" sz="2100" b="1" i="0" u="none" strike="noStrike" kern="1200" cap="none" normalizeH="0" baseline="0" dirty="0" smtClean="0">
          <a:ln>
            <a:noFill/>
          </a:ln>
          <a:solidFill>
            <a:schemeClr val="bg1"/>
          </a:solidFill>
          <a:effectLst/>
          <a:latin typeface="Arial" pitchFamily="34" charset="0"/>
          <a:ea typeface="+mn-ea"/>
          <a:cs typeface="+mn-cs"/>
        </a:defRPr>
      </a:lvl1pPr>
    </p:titleStyle>
    <p:bodyStyle>
      <a:lvl1pPr marL="301725" indent="-301725" algn="l" defTabSz="804599" rtl="0" eaLnBrk="1" latinLnBrk="0" hangingPunct="1">
        <a:spcBef>
          <a:spcPct val="20000"/>
        </a:spcBef>
        <a:buFont typeface="Arial" pitchFamily="34" charset="0"/>
        <a:buChar char="•"/>
        <a:defRPr sz="2850" kern="1200">
          <a:solidFill>
            <a:srgbClr val="002060"/>
          </a:solidFill>
          <a:latin typeface="+mn-lt"/>
          <a:ea typeface="+mn-ea"/>
          <a:cs typeface="+mn-cs"/>
        </a:defRPr>
      </a:lvl1pPr>
      <a:lvl2pPr marL="653736" indent="-251437" algn="l" defTabSz="804599" rtl="0" eaLnBrk="1" latinLnBrk="0" hangingPunct="1">
        <a:spcBef>
          <a:spcPct val="20000"/>
        </a:spcBef>
        <a:buFont typeface="Arial" pitchFamily="34" charset="0"/>
        <a:buChar char="–"/>
        <a:defRPr sz="2475" kern="1200">
          <a:solidFill>
            <a:srgbClr val="002060"/>
          </a:solidFill>
          <a:latin typeface="+mn-lt"/>
          <a:ea typeface="+mn-ea"/>
          <a:cs typeface="+mn-cs"/>
        </a:defRPr>
      </a:lvl2pPr>
      <a:lvl3pPr marL="1005748" indent="-201149" algn="l" defTabSz="804599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rgbClr val="002060"/>
          </a:solidFill>
          <a:latin typeface="+mn-lt"/>
          <a:ea typeface="+mn-ea"/>
          <a:cs typeface="+mn-cs"/>
        </a:defRPr>
      </a:lvl3pPr>
      <a:lvl4pPr marL="1408047" indent="-201149" algn="l" defTabSz="804599" rtl="0" eaLnBrk="1" latinLnBrk="0" hangingPunct="1">
        <a:spcBef>
          <a:spcPct val="20000"/>
        </a:spcBef>
        <a:buFont typeface="Arial" pitchFamily="34" charset="0"/>
        <a:buChar char="–"/>
        <a:defRPr sz="1725" kern="1200">
          <a:solidFill>
            <a:srgbClr val="002060"/>
          </a:solidFill>
          <a:latin typeface="+mn-lt"/>
          <a:ea typeface="+mn-ea"/>
          <a:cs typeface="+mn-cs"/>
        </a:defRPr>
      </a:lvl4pPr>
      <a:lvl5pPr marL="1810346" indent="-201149" algn="l" defTabSz="804599" rtl="0" eaLnBrk="1" latinLnBrk="0" hangingPunct="1">
        <a:spcBef>
          <a:spcPct val="20000"/>
        </a:spcBef>
        <a:buFont typeface="Arial" pitchFamily="34" charset="0"/>
        <a:buChar char="»"/>
        <a:defRPr sz="1725" kern="1200">
          <a:solidFill>
            <a:srgbClr val="002060"/>
          </a:solidFill>
          <a:latin typeface="+mn-lt"/>
          <a:ea typeface="+mn-ea"/>
          <a:cs typeface="+mn-cs"/>
        </a:defRPr>
      </a:lvl5pPr>
      <a:lvl6pPr marL="2212646" indent="-201149" algn="l" defTabSz="804599" rtl="0" eaLnBrk="1" latinLnBrk="0" hangingPunct="1">
        <a:spcBef>
          <a:spcPct val="20000"/>
        </a:spcBef>
        <a:buFont typeface="Arial" pitchFamily="34" charset="0"/>
        <a:buChar char="•"/>
        <a:defRPr sz="1725" kern="1200">
          <a:solidFill>
            <a:schemeClr val="tx1"/>
          </a:solidFill>
          <a:latin typeface="+mn-lt"/>
          <a:ea typeface="+mn-ea"/>
          <a:cs typeface="+mn-cs"/>
        </a:defRPr>
      </a:lvl6pPr>
      <a:lvl7pPr marL="2614945" indent="-201149" algn="l" defTabSz="804599" rtl="0" eaLnBrk="1" latinLnBrk="0" hangingPunct="1">
        <a:spcBef>
          <a:spcPct val="20000"/>
        </a:spcBef>
        <a:buFont typeface="Arial" pitchFamily="34" charset="0"/>
        <a:buChar char="•"/>
        <a:defRPr sz="1725" kern="1200">
          <a:solidFill>
            <a:schemeClr val="tx1"/>
          </a:solidFill>
          <a:latin typeface="+mn-lt"/>
          <a:ea typeface="+mn-ea"/>
          <a:cs typeface="+mn-cs"/>
        </a:defRPr>
      </a:lvl7pPr>
      <a:lvl8pPr marL="3017244" indent="-201149" algn="l" defTabSz="804599" rtl="0" eaLnBrk="1" latinLnBrk="0" hangingPunct="1">
        <a:spcBef>
          <a:spcPct val="20000"/>
        </a:spcBef>
        <a:buFont typeface="Arial" pitchFamily="34" charset="0"/>
        <a:buChar char="•"/>
        <a:defRPr sz="1725" kern="1200">
          <a:solidFill>
            <a:schemeClr val="tx1"/>
          </a:solidFill>
          <a:latin typeface="+mn-lt"/>
          <a:ea typeface="+mn-ea"/>
          <a:cs typeface="+mn-cs"/>
        </a:defRPr>
      </a:lvl8pPr>
      <a:lvl9pPr marL="3419543" indent="-201149" algn="l" defTabSz="804599" rtl="0" eaLnBrk="1" latinLnBrk="0" hangingPunct="1">
        <a:spcBef>
          <a:spcPct val="20000"/>
        </a:spcBef>
        <a:buFont typeface="Arial" pitchFamily="34" charset="0"/>
        <a:buChar char="•"/>
        <a:defRPr sz="17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04599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402299" algn="l" defTabSz="804599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804599" algn="l" defTabSz="804599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06898" algn="l" defTabSz="804599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09196" algn="l" defTabSz="804599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2011496" algn="l" defTabSz="804599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413796" algn="l" defTabSz="804599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816094" algn="l" defTabSz="804599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218393" algn="l" defTabSz="804599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 bwMode="auto">
          <a:xfrm>
            <a:off x="1017916" y="1743875"/>
            <a:ext cx="7254815" cy="102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35000" tIns="135000" rIns="135000" bIns="135000" rtlCol="0">
            <a:noAutofit/>
          </a:bodyPr>
          <a:lstStyle/>
          <a:p>
            <a:pPr algn="ctr" defTabSz="804599">
              <a:lnSpc>
                <a:spcPct val="110000"/>
              </a:lnSpc>
              <a:spcAft>
                <a:spcPts val="450"/>
              </a:spcAft>
            </a:pPr>
            <a:r>
              <a:rPr lang="de-DE" sz="4500" b="1" dirty="0">
                <a:solidFill>
                  <a:srgbClr val="FFFFFF"/>
                </a:solidFill>
                <a:latin typeface="Calibri" pitchFamily="34" charset="0"/>
              </a:rPr>
              <a:t>Die Relevanz digitaler </a:t>
            </a:r>
            <a:r>
              <a:rPr lang="de-DE" sz="4500" b="1" dirty="0" smtClean="0">
                <a:solidFill>
                  <a:srgbClr val="FFFFFF"/>
                </a:solidFill>
                <a:latin typeface="Calibri" pitchFamily="34" charset="0"/>
              </a:rPr>
              <a:t>Transformation</a:t>
            </a:r>
          </a:p>
          <a:p>
            <a:pPr algn="ctr" defTabSz="804599">
              <a:lnSpc>
                <a:spcPct val="110000"/>
              </a:lnSpc>
              <a:spcAft>
                <a:spcPts val="450"/>
              </a:spcAft>
            </a:pPr>
            <a:r>
              <a:rPr lang="de-DE" sz="2800" b="1" dirty="0" smtClean="0">
                <a:solidFill>
                  <a:srgbClr val="FFFFFF"/>
                </a:solidFill>
                <a:latin typeface="Calibri" pitchFamily="34" charset="0"/>
              </a:rPr>
              <a:t>Das </a:t>
            </a:r>
            <a:r>
              <a:rPr lang="de-DE" sz="2800" b="1" dirty="0">
                <a:solidFill>
                  <a:srgbClr val="FFFFFF"/>
                </a:solidFill>
                <a:latin typeface="Calibri" pitchFamily="34" charset="0"/>
              </a:rPr>
              <a:t>Beispiel der Fotografie </a:t>
            </a:r>
          </a:p>
        </p:txBody>
      </p:sp>
    </p:spTree>
    <p:extLst>
      <p:ext uri="{BB962C8B-B14F-4D97-AF65-F5344CB8AC3E}">
        <p14:creationId xmlns:p14="http://schemas.microsoft.com/office/powerpoint/2010/main" val="2039815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 bwMode="auto">
          <a:xfrm>
            <a:off x="181155" y="3429000"/>
            <a:ext cx="1944583" cy="594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35000" tIns="135000" rIns="135000" bIns="135000" rtlCol="0">
            <a:noAutofit/>
          </a:bodyPr>
          <a:lstStyle/>
          <a:p>
            <a:pPr defTabSz="804599">
              <a:lnSpc>
                <a:spcPct val="110000"/>
              </a:lnSpc>
              <a:spcAft>
                <a:spcPts val="450"/>
              </a:spcAft>
            </a:pPr>
            <a:r>
              <a:rPr lang="de-DE" sz="2100" dirty="0">
                <a:solidFill>
                  <a:srgbClr val="002750"/>
                </a:solidFill>
                <a:latin typeface="Calibri" pitchFamily="34" charset="0"/>
              </a:rPr>
              <a:t>Transformation der Fotografie</a:t>
            </a:r>
          </a:p>
        </p:txBody>
      </p:sp>
      <p:sp>
        <p:nvSpPr>
          <p:cNvPr id="4" name="Textfeld 3"/>
          <p:cNvSpPr txBox="1"/>
          <p:nvPr/>
        </p:nvSpPr>
        <p:spPr bwMode="auto">
          <a:xfrm>
            <a:off x="3002488" y="3287242"/>
            <a:ext cx="1254509" cy="594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35000" tIns="135000" rIns="135000" bIns="135000" rtlCol="0">
            <a:noAutofit/>
          </a:bodyPr>
          <a:lstStyle/>
          <a:p>
            <a:pPr defTabSz="804599">
              <a:lnSpc>
                <a:spcPct val="110000"/>
              </a:lnSpc>
              <a:spcAft>
                <a:spcPts val="450"/>
              </a:spcAft>
            </a:pPr>
            <a:r>
              <a:rPr lang="de-DE" sz="2100" dirty="0">
                <a:solidFill>
                  <a:srgbClr val="002750"/>
                </a:solidFill>
                <a:latin typeface="Calibri" pitchFamily="34" charset="0"/>
              </a:rPr>
              <a:t>Das Beispiel CEWE</a:t>
            </a:r>
          </a:p>
        </p:txBody>
      </p:sp>
    </p:spTree>
    <p:extLst>
      <p:ext uri="{BB962C8B-B14F-4D97-AF65-F5344CB8AC3E}">
        <p14:creationId xmlns:p14="http://schemas.microsoft.com/office/powerpoint/2010/main" val="1529337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 bwMode="auto">
          <a:xfrm>
            <a:off x="2061713" y="2888940"/>
            <a:ext cx="4508509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35000" tIns="135000" rIns="135000" bIns="135000" rtlCol="0">
            <a:noAutofit/>
          </a:bodyPr>
          <a:lstStyle/>
          <a:p>
            <a:pPr defTabSz="804599">
              <a:lnSpc>
                <a:spcPct val="110000"/>
              </a:lnSpc>
              <a:spcAft>
                <a:spcPts val="450"/>
              </a:spcAft>
            </a:pPr>
            <a:r>
              <a:rPr lang="de-DE" sz="4500" dirty="0">
                <a:solidFill>
                  <a:srgbClr val="002750"/>
                </a:solidFill>
                <a:latin typeface="Calibri" pitchFamily="34" charset="0"/>
              </a:rPr>
              <a:t>Transformation der Fotografie</a:t>
            </a:r>
          </a:p>
        </p:txBody>
      </p:sp>
    </p:spTree>
    <p:extLst>
      <p:ext uri="{BB962C8B-B14F-4D97-AF65-F5344CB8AC3E}">
        <p14:creationId xmlns:p14="http://schemas.microsoft.com/office/powerpoint/2010/main" val="410426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eck 33"/>
          <p:cNvSpPr/>
          <p:nvPr/>
        </p:nvSpPr>
        <p:spPr>
          <a:xfrm>
            <a:off x="0" y="0"/>
            <a:ext cx="7580120" cy="6858000"/>
          </a:xfrm>
          <a:custGeom>
            <a:avLst/>
            <a:gdLst>
              <a:gd name="connsiteX0" fmla="*/ 0 w 7580120"/>
              <a:gd name="connsiteY0" fmla="*/ 0 h 6858000"/>
              <a:gd name="connsiteX1" fmla="*/ 7580120 w 7580120"/>
              <a:gd name="connsiteY1" fmla="*/ 0 h 6858000"/>
              <a:gd name="connsiteX2" fmla="*/ 7580120 w 7580120"/>
              <a:gd name="connsiteY2" fmla="*/ 6858000 h 6858000"/>
              <a:gd name="connsiteX3" fmla="*/ 0 w 7580120"/>
              <a:gd name="connsiteY3" fmla="*/ 6858000 h 6858000"/>
              <a:gd name="connsiteX4" fmla="*/ 0 w 7580120"/>
              <a:gd name="connsiteY4" fmla="*/ 0 h 6858000"/>
              <a:gd name="connsiteX0" fmla="*/ 0 w 7580120"/>
              <a:gd name="connsiteY0" fmla="*/ 0 h 6858000"/>
              <a:gd name="connsiteX1" fmla="*/ 7580120 w 7580120"/>
              <a:gd name="connsiteY1" fmla="*/ 0 h 6858000"/>
              <a:gd name="connsiteX2" fmla="*/ 5862415 w 7580120"/>
              <a:gd name="connsiteY2" fmla="*/ 6858000 h 6858000"/>
              <a:gd name="connsiteX3" fmla="*/ 0 w 7580120"/>
              <a:gd name="connsiteY3" fmla="*/ 6858000 h 6858000"/>
              <a:gd name="connsiteX4" fmla="*/ 0 w 758012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80120" h="6858000">
                <a:moveTo>
                  <a:pt x="0" y="0"/>
                </a:moveTo>
                <a:lnTo>
                  <a:pt x="7580120" y="0"/>
                </a:lnTo>
                <a:lnTo>
                  <a:pt x="586241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14" name="Titel 1"/>
          <p:cNvSpPr>
            <a:spLocks noGrp="1"/>
          </p:cNvSpPr>
          <p:nvPr>
            <p:ph type="title"/>
          </p:nvPr>
        </p:nvSpPr>
        <p:spPr>
          <a:xfrm>
            <a:off x="510116" y="434458"/>
            <a:ext cx="6520193" cy="448983"/>
          </a:xfrm>
        </p:spPr>
        <p:txBody>
          <a:bodyPr/>
          <a:lstStyle/>
          <a:p>
            <a:r>
              <a:rPr lang="de-DE" dirty="0" smtClean="0">
                <a:cs typeface="Arial" charset="0"/>
              </a:rPr>
              <a:t>Die </a:t>
            </a:r>
            <a:r>
              <a:rPr lang="de-DE" dirty="0">
                <a:cs typeface="Arial" charset="0"/>
              </a:rPr>
              <a:t>Transformation der </a:t>
            </a:r>
            <a:r>
              <a:rPr lang="de-DE" dirty="0" smtClean="0">
                <a:cs typeface="Arial" charset="0"/>
              </a:rPr>
              <a:t>Fotografie</a:t>
            </a:r>
            <a:r>
              <a:rPr lang="de-DE" dirty="0" smtClean="0">
                <a:cs typeface="Arial" charset="0"/>
              </a:rPr>
              <a:t/>
            </a:r>
            <a:br>
              <a:rPr lang="de-DE" dirty="0" smtClean="0">
                <a:cs typeface="Arial" charset="0"/>
              </a:rPr>
            </a:br>
            <a:endParaRPr lang="de-DE" dirty="0">
              <a:latin typeface="+mn-lt"/>
              <a:cs typeface="Arial" charset="0"/>
            </a:endParaRPr>
          </a:p>
        </p:txBody>
      </p:sp>
      <p:sp>
        <p:nvSpPr>
          <p:cNvPr id="22" name="Abgerundetes Rechteck 21"/>
          <p:cNvSpPr/>
          <p:nvPr/>
        </p:nvSpPr>
        <p:spPr>
          <a:xfrm>
            <a:off x="333534" y="3637515"/>
            <a:ext cx="2563816" cy="159361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chemeClr val="tx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333534" y="3747067"/>
            <a:ext cx="2563816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de-DE" sz="1300" dirty="0">
                <a:solidFill>
                  <a:schemeClr val="bg1"/>
                </a:solidFill>
              </a:rPr>
              <a:t>Der Marktführer für analoges Filmmaterial Kodak musste 2012 Insolvenz anmelden.</a:t>
            </a:r>
          </a:p>
          <a:p>
            <a:pPr marL="179388" indent="-179388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de-DE" sz="1300" dirty="0">
                <a:solidFill>
                  <a:schemeClr val="bg1"/>
                </a:solidFill>
              </a:rPr>
              <a:t>Kodak war anfangs führend bei Digitalfotografie, die aber das Kerngeschäft </a:t>
            </a:r>
            <a:r>
              <a:rPr lang="de-DE" sz="1300" dirty="0" err="1">
                <a:solidFill>
                  <a:schemeClr val="bg1"/>
                </a:solidFill>
              </a:rPr>
              <a:t>kannibalisierte</a:t>
            </a:r>
            <a:r>
              <a:rPr lang="de-DE" sz="13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4" name="Abgerundetes Rechteck 23"/>
          <p:cNvSpPr/>
          <p:nvPr/>
        </p:nvSpPr>
        <p:spPr>
          <a:xfrm>
            <a:off x="6214590" y="3630020"/>
            <a:ext cx="2563816" cy="159361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chemeClr val="tx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6214590" y="3739573"/>
            <a:ext cx="2563816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de-DE" sz="1300" dirty="0">
                <a:solidFill>
                  <a:schemeClr val="bg1"/>
                </a:solidFill>
              </a:rPr>
              <a:t>Durch verbesserte Smartphones brach Absatz von Digitalkameras auf ca. 1,5 Millionen 2020 ein. </a:t>
            </a:r>
          </a:p>
          <a:p>
            <a:pPr marL="179388" indent="-179388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de-DE" sz="1300" dirty="0">
                <a:solidFill>
                  <a:schemeClr val="bg1"/>
                </a:solidFill>
              </a:rPr>
              <a:t>Einige Hersteller werden diesen nächsten Schritt der </a:t>
            </a:r>
            <a:r>
              <a:rPr lang="de-DE" sz="1300" dirty="0" err="1">
                <a:solidFill>
                  <a:schemeClr val="bg1"/>
                </a:solidFill>
              </a:rPr>
              <a:t>Transfor-mation</a:t>
            </a:r>
            <a:r>
              <a:rPr lang="de-DE" sz="1300" dirty="0">
                <a:solidFill>
                  <a:schemeClr val="bg1"/>
                </a:solidFill>
              </a:rPr>
              <a:t> nicht überstehen.</a:t>
            </a:r>
          </a:p>
        </p:txBody>
      </p:sp>
      <p:sp>
        <p:nvSpPr>
          <p:cNvPr id="10" name="Rechteck 9"/>
          <p:cNvSpPr/>
          <p:nvPr/>
        </p:nvSpPr>
        <p:spPr>
          <a:xfrm>
            <a:off x="6198152" y="3240653"/>
            <a:ext cx="2621849" cy="32097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+mj-lt"/>
                <a:cs typeface="Segoe UI" panose="020B0502040204020203" pitchFamily="34" charset="0"/>
              </a:rPr>
              <a:t>Smartphone</a:t>
            </a:r>
            <a:endParaRPr lang="en-US" sz="1400" dirty="0">
              <a:solidFill>
                <a:schemeClr val="tx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3" name="Abgerundetes Rechteck 22"/>
          <p:cNvSpPr/>
          <p:nvPr/>
        </p:nvSpPr>
        <p:spPr>
          <a:xfrm>
            <a:off x="3278691" y="3630020"/>
            <a:ext cx="2563816" cy="159361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chemeClr val="tx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3282375" y="3739573"/>
            <a:ext cx="2563816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de-DE" sz="1300" dirty="0">
                <a:solidFill>
                  <a:schemeClr val="bg1"/>
                </a:solidFill>
              </a:rPr>
              <a:t>Ab 2003 wurden in Deutschland mehr digitale als analoge Kameras verkauft.</a:t>
            </a:r>
          </a:p>
          <a:p>
            <a:pPr marL="179388" indent="-179388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de-DE" sz="1300" dirty="0">
                <a:solidFill>
                  <a:schemeClr val="bg1"/>
                </a:solidFill>
              </a:rPr>
              <a:t>Höhepunkt beim Absatz von Digitalkameras in Deutschland 2008 mit über 9 Millionen.</a:t>
            </a:r>
          </a:p>
        </p:txBody>
      </p:sp>
      <p:sp>
        <p:nvSpPr>
          <p:cNvPr id="15" name="Rechteck 14"/>
          <p:cNvSpPr/>
          <p:nvPr/>
        </p:nvSpPr>
        <p:spPr>
          <a:xfrm>
            <a:off x="294755" y="3228835"/>
            <a:ext cx="2633769" cy="34029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  <a:latin typeface="+mj-lt"/>
                <a:cs typeface="Segoe UI" panose="020B0502040204020203" pitchFamily="34" charset="0"/>
              </a:rPr>
              <a:t>Analoge</a:t>
            </a:r>
            <a:r>
              <a:rPr lang="en-US" sz="1600" b="1" dirty="0">
                <a:solidFill>
                  <a:schemeClr val="tx1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+mj-lt"/>
                <a:cs typeface="Segoe UI" panose="020B0502040204020203" pitchFamily="34" charset="0"/>
              </a:rPr>
              <a:t>Kamera</a:t>
            </a:r>
            <a:endParaRPr lang="en-US" sz="1400" dirty="0">
              <a:solidFill>
                <a:schemeClr val="tx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9" name="Isosceles Triangle 99"/>
          <p:cNvSpPr/>
          <p:nvPr>
            <p:custDataLst>
              <p:tags r:id="rId1"/>
            </p:custDataLst>
          </p:nvPr>
        </p:nvSpPr>
        <p:spPr bwMode="auto">
          <a:xfrm rot="5400000">
            <a:off x="2923150" y="4196707"/>
            <a:ext cx="342683" cy="127644"/>
          </a:xfrm>
          <a:prstGeom prst="triangle">
            <a:avLst/>
          </a:prstGeom>
          <a:solidFill>
            <a:srgbClr val="FF00FF"/>
          </a:solidFill>
          <a:ln w="15875" cmpd="sng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93000"/>
              </a:lnSpc>
              <a:defRPr/>
            </a:pPr>
            <a:endParaRPr lang="en-US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4" name="Rechteck 13"/>
          <p:cNvSpPr/>
          <p:nvPr/>
        </p:nvSpPr>
        <p:spPr>
          <a:xfrm>
            <a:off x="3278691" y="3227639"/>
            <a:ext cx="2621849" cy="32097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  <a:latin typeface="+mj-lt"/>
                <a:cs typeface="Segoe UI" panose="020B0502040204020203" pitchFamily="34" charset="0"/>
              </a:rPr>
              <a:t>Digitalkamera</a:t>
            </a:r>
            <a:endParaRPr lang="en-US" sz="1400" dirty="0">
              <a:solidFill>
                <a:schemeClr val="tx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2" name="Rechteck 1"/>
          <p:cNvSpPr/>
          <p:nvPr/>
        </p:nvSpPr>
        <p:spPr>
          <a:xfrm>
            <a:off x="510116" y="2242466"/>
            <a:ext cx="220304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/>
              <a:t>https://www.shutterstock.com/de/image-photo/eastchester-new-york-january-18-2021-1904392594</a:t>
            </a:r>
          </a:p>
        </p:txBody>
      </p:sp>
      <p:sp>
        <p:nvSpPr>
          <p:cNvPr id="3" name="Rechteck 2"/>
          <p:cNvSpPr/>
          <p:nvPr/>
        </p:nvSpPr>
        <p:spPr>
          <a:xfrm>
            <a:off x="3335052" y="2233927"/>
            <a:ext cx="2483429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/>
              <a:t>https://www.shutterstock.com/de/image-illustration/compact-digital-camera-70030108</a:t>
            </a:r>
          </a:p>
        </p:txBody>
      </p:sp>
      <p:sp>
        <p:nvSpPr>
          <p:cNvPr id="20" name="Rechteck 19"/>
          <p:cNvSpPr/>
          <p:nvPr/>
        </p:nvSpPr>
        <p:spPr>
          <a:xfrm>
            <a:off x="6609552" y="2250829"/>
            <a:ext cx="208444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/>
              <a:t>https://www.shutterstock.com/de/image-photo/shenzhen-china-16-november-2020-iphone-1855089913</a:t>
            </a:r>
          </a:p>
        </p:txBody>
      </p:sp>
      <p:sp>
        <p:nvSpPr>
          <p:cNvPr id="33" name="Rechteck 32"/>
          <p:cNvSpPr/>
          <p:nvPr/>
        </p:nvSpPr>
        <p:spPr>
          <a:xfrm>
            <a:off x="424269" y="794253"/>
            <a:ext cx="32395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400" dirty="0">
                <a:cs typeface="Arial" charset="0"/>
              </a:rPr>
              <a:t>Tradition reicht langfristig meist nicht aus </a:t>
            </a:r>
            <a:endParaRPr lang="de-DE" sz="1400" dirty="0"/>
          </a:p>
        </p:txBody>
      </p:sp>
      <p:sp>
        <p:nvSpPr>
          <p:cNvPr id="37" name="Isosceles Triangle 99"/>
          <p:cNvSpPr/>
          <p:nvPr>
            <p:custDataLst>
              <p:tags r:id="rId2"/>
            </p:custDataLst>
          </p:nvPr>
        </p:nvSpPr>
        <p:spPr bwMode="auto">
          <a:xfrm rot="5400000">
            <a:off x="5855365" y="4196707"/>
            <a:ext cx="342683" cy="127644"/>
          </a:xfrm>
          <a:prstGeom prst="triangle">
            <a:avLst/>
          </a:prstGeom>
          <a:solidFill>
            <a:srgbClr val="FF00FF"/>
          </a:solidFill>
          <a:ln w="15875" cmpd="sng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93000"/>
              </a:lnSpc>
              <a:defRPr/>
            </a:pPr>
            <a:endParaRPr lang="en-US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38" name="Rechteck 37"/>
          <p:cNvSpPr/>
          <p:nvPr/>
        </p:nvSpPr>
        <p:spPr>
          <a:xfrm>
            <a:off x="3887483" y="1313444"/>
            <a:ext cx="2203046" cy="430887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de-DE" sz="1100" dirty="0" err="1" smtClean="0">
                <a:solidFill>
                  <a:schemeClr val="bg1"/>
                </a:solidFill>
              </a:rPr>
              <a:t>Shutterstock</a:t>
            </a:r>
            <a:r>
              <a:rPr lang="de-DE" sz="1100" dirty="0" smtClean="0">
                <a:solidFill>
                  <a:schemeClr val="bg1"/>
                </a:solidFill>
              </a:rPr>
              <a:t> Abo zum Zeitpunkt der Erstellung ausgelaufen.</a:t>
            </a:r>
            <a:endParaRPr lang="de-DE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933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 bwMode="auto">
          <a:xfrm>
            <a:off x="3491880" y="2888940"/>
            <a:ext cx="3078342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35000" tIns="135000" rIns="135000" bIns="135000" rtlCol="0">
            <a:noAutofit/>
          </a:bodyPr>
          <a:lstStyle/>
          <a:p>
            <a:pPr defTabSz="804599">
              <a:lnSpc>
                <a:spcPct val="110000"/>
              </a:lnSpc>
              <a:spcAft>
                <a:spcPts val="450"/>
              </a:spcAft>
            </a:pPr>
            <a:r>
              <a:rPr lang="de-DE" sz="4500" dirty="0">
                <a:solidFill>
                  <a:srgbClr val="002750"/>
                </a:solidFill>
                <a:latin typeface="Calibri" pitchFamily="34" charset="0"/>
              </a:rPr>
              <a:t>Das Beispiel CEWE</a:t>
            </a:r>
          </a:p>
        </p:txBody>
      </p:sp>
    </p:spTree>
    <p:extLst>
      <p:ext uri="{BB962C8B-B14F-4D97-AF65-F5344CB8AC3E}">
        <p14:creationId xmlns:p14="http://schemas.microsoft.com/office/powerpoint/2010/main" val="260845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hteck 33"/>
          <p:cNvSpPr/>
          <p:nvPr/>
        </p:nvSpPr>
        <p:spPr>
          <a:xfrm>
            <a:off x="0" y="0"/>
            <a:ext cx="7580120" cy="6858000"/>
          </a:xfrm>
          <a:custGeom>
            <a:avLst/>
            <a:gdLst>
              <a:gd name="connsiteX0" fmla="*/ 0 w 7580120"/>
              <a:gd name="connsiteY0" fmla="*/ 0 h 6858000"/>
              <a:gd name="connsiteX1" fmla="*/ 7580120 w 7580120"/>
              <a:gd name="connsiteY1" fmla="*/ 0 h 6858000"/>
              <a:gd name="connsiteX2" fmla="*/ 7580120 w 7580120"/>
              <a:gd name="connsiteY2" fmla="*/ 6858000 h 6858000"/>
              <a:gd name="connsiteX3" fmla="*/ 0 w 7580120"/>
              <a:gd name="connsiteY3" fmla="*/ 6858000 h 6858000"/>
              <a:gd name="connsiteX4" fmla="*/ 0 w 7580120"/>
              <a:gd name="connsiteY4" fmla="*/ 0 h 6858000"/>
              <a:gd name="connsiteX0" fmla="*/ 0 w 7580120"/>
              <a:gd name="connsiteY0" fmla="*/ 0 h 6858000"/>
              <a:gd name="connsiteX1" fmla="*/ 7580120 w 7580120"/>
              <a:gd name="connsiteY1" fmla="*/ 0 h 6858000"/>
              <a:gd name="connsiteX2" fmla="*/ 5862415 w 7580120"/>
              <a:gd name="connsiteY2" fmla="*/ 6858000 h 6858000"/>
              <a:gd name="connsiteX3" fmla="*/ 0 w 7580120"/>
              <a:gd name="connsiteY3" fmla="*/ 6858000 h 6858000"/>
              <a:gd name="connsiteX4" fmla="*/ 0 w 758012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80120" h="6858000">
                <a:moveTo>
                  <a:pt x="0" y="0"/>
                </a:moveTo>
                <a:lnTo>
                  <a:pt x="7580120" y="0"/>
                </a:lnTo>
                <a:lnTo>
                  <a:pt x="586241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14" name="Titel 1"/>
          <p:cNvSpPr>
            <a:spLocks noGrp="1"/>
          </p:cNvSpPr>
          <p:nvPr>
            <p:ph type="title"/>
          </p:nvPr>
        </p:nvSpPr>
        <p:spPr>
          <a:xfrm>
            <a:off x="333534" y="362511"/>
            <a:ext cx="8486466" cy="747776"/>
          </a:xfrm>
        </p:spPr>
        <p:txBody>
          <a:bodyPr/>
          <a:lstStyle/>
          <a:p>
            <a:r>
              <a:rPr lang="de-DE" dirty="0">
                <a:cs typeface="Arial" charset="0"/>
              </a:rPr>
              <a:t>Die digitale Transformation bietet auch </a:t>
            </a:r>
            <a:r>
              <a:rPr lang="de-DE" dirty="0" smtClean="0">
                <a:cs typeface="Arial" charset="0"/>
              </a:rPr>
              <a:t>Chancen</a:t>
            </a:r>
            <a:br>
              <a:rPr lang="de-DE" dirty="0" smtClean="0">
                <a:cs typeface="Arial" charset="0"/>
              </a:rPr>
            </a:br>
            <a:r>
              <a:rPr lang="de-DE" sz="1400" dirty="0" smtClean="0">
                <a:cs typeface="Arial" charset="0"/>
              </a:rPr>
              <a:t>Das </a:t>
            </a:r>
            <a:r>
              <a:rPr lang="de-DE" sz="1400" dirty="0">
                <a:cs typeface="Arial" charset="0"/>
              </a:rPr>
              <a:t>Beispiel CEWE</a:t>
            </a:r>
            <a:endParaRPr lang="de-DE" sz="1400" dirty="0">
              <a:latin typeface="+mn-lt"/>
              <a:cs typeface="Arial" charset="0"/>
            </a:endParaRPr>
          </a:p>
        </p:txBody>
      </p:sp>
      <p:sp>
        <p:nvSpPr>
          <p:cNvPr id="22" name="Abgerundetes Rechteck 21"/>
          <p:cNvSpPr/>
          <p:nvPr/>
        </p:nvSpPr>
        <p:spPr>
          <a:xfrm>
            <a:off x="333535" y="2759241"/>
            <a:ext cx="2109014" cy="201061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2075">
              <a:spcAft>
                <a:spcPts val="600"/>
              </a:spcAft>
              <a:buClr>
                <a:schemeClr val="bg1"/>
              </a:buClr>
            </a:pPr>
            <a:r>
              <a:rPr lang="de-DE" sz="1400" dirty="0">
                <a:solidFill>
                  <a:schemeClr val="bg1"/>
                </a:solidFill>
              </a:rPr>
              <a:t>Betrieb mehrerer Fotolabore zur Entwicklung von Abzügen von analogen Filmen für Fotoläden, Drogeriemärkte usw. ohne direkten Kontakt zu </a:t>
            </a:r>
            <a:r>
              <a:rPr lang="de-DE" sz="1400" dirty="0" err="1" smtClean="0">
                <a:solidFill>
                  <a:schemeClr val="bg1"/>
                </a:solidFill>
              </a:rPr>
              <a:t>Endkund</a:t>
            </a:r>
            <a:r>
              <a:rPr lang="de-DE" sz="1400" dirty="0" smtClean="0">
                <a:solidFill>
                  <a:schemeClr val="bg1"/>
                </a:solidFill>
              </a:rPr>
              <a:t>*innen</a:t>
            </a:r>
            <a:r>
              <a:rPr lang="de-DE" sz="1400" dirty="0">
                <a:solidFill>
                  <a:schemeClr val="bg1"/>
                </a:solidFill>
              </a:rPr>
              <a:t>.</a:t>
            </a:r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23" name="Abgerundetes Rechteck 22"/>
          <p:cNvSpPr/>
          <p:nvPr/>
        </p:nvSpPr>
        <p:spPr>
          <a:xfrm>
            <a:off x="2713707" y="2759241"/>
            <a:ext cx="2109014" cy="201061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2075">
              <a:spcAft>
                <a:spcPts val="600"/>
              </a:spcAft>
              <a:buClr>
                <a:schemeClr val="bg1"/>
              </a:buClr>
            </a:pPr>
            <a:r>
              <a:rPr lang="de-DE" sz="1400" dirty="0">
                <a:solidFill>
                  <a:schemeClr val="bg1"/>
                </a:solidFill>
              </a:rPr>
              <a:t>CEWE Fotobuch ab 2005 als eigenes Markenprodukt mit direkter Online Bestellmöglichkeit für </a:t>
            </a:r>
            <a:r>
              <a:rPr lang="de-DE" sz="1400" dirty="0" smtClean="0">
                <a:solidFill>
                  <a:schemeClr val="bg1"/>
                </a:solidFill>
              </a:rPr>
              <a:t>Kund*innen, </a:t>
            </a:r>
            <a:r>
              <a:rPr lang="de-DE" sz="1400" dirty="0">
                <a:solidFill>
                  <a:schemeClr val="bg1"/>
                </a:solidFill>
              </a:rPr>
              <a:t>Umsatz seitdem fast verdoppelt.</a:t>
            </a:r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34" name="Isosceles Triangle 99"/>
          <p:cNvSpPr/>
          <p:nvPr>
            <p:custDataLst>
              <p:tags r:id="rId1"/>
            </p:custDataLst>
          </p:nvPr>
        </p:nvSpPr>
        <p:spPr bwMode="auto">
          <a:xfrm rot="5400000">
            <a:off x="2413205" y="3700724"/>
            <a:ext cx="342683" cy="127644"/>
          </a:xfrm>
          <a:prstGeom prst="triangle">
            <a:avLst/>
          </a:prstGeom>
          <a:solidFill>
            <a:schemeClr val="tx1"/>
          </a:solidFill>
          <a:ln w="15875" cmpd="sng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93000"/>
              </a:lnSpc>
              <a:defRPr/>
            </a:pPr>
            <a:endParaRPr lang="en-US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5109091" y="2800416"/>
            <a:ext cx="2109014" cy="201061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2075">
              <a:spcAft>
                <a:spcPts val="600"/>
              </a:spcAft>
              <a:buClr>
                <a:schemeClr val="bg1"/>
              </a:buClr>
            </a:pPr>
            <a:r>
              <a:rPr lang="de-DE" sz="1400" dirty="0">
                <a:solidFill>
                  <a:schemeClr val="bg1"/>
                </a:solidFill>
              </a:rPr>
              <a:t>Gründung des Mobile &amp; </a:t>
            </a:r>
            <a:r>
              <a:rPr lang="de-DE" sz="1400" dirty="0" err="1">
                <a:solidFill>
                  <a:schemeClr val="bg1"/>
                </a:solidFill>
              </a:rPr>
              <a:t>Artificial</a:t>
            </a:r>
            <a:r>
              <a:rPr lang="de-DE" sz="1400" dirty="0">
                <a:solidFill>
                  <a:schemeClr val="bg1"/>
                </a:solidFill>
              </a:rPr>
              <a:t> </a:t>
            </a:r>
            <a:r>
              <a:rPr lang="de-DE" sz="1400" dirty="0" err="1">
                <a:solidFill>
                  <a:schemeClr val="bg1"/>
                </a:solidFill>
              </a:rPr>
              <a:t>Intelligence</a:t>
            </a:r>
            <a:r>
              <a:rPr lang="de-DE" sz="1400" dirty="0">
                <a:solidFill>
                  <a:schemeClr val="bg1"/>
                </a:solidFill>
              </a:rPr>
              <a:t> Campus 2019 zur Entwicklung smarter Lösungen für bessere Kundenerlebnisse und vereinfachte Bestellungen.</a:t>
            </a:r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37" name="Isosceles Triangle 99"/>
          <p:cNvSpPr/>
          <p:nvPr>
            <p:custDataLst>
              <p:tags r:id="rId2"/>
            </p:custDataLst>
          </p:nvPr>
        </p:nvSpPr>
        <p:spPr bwMode="auto">
          <a:xfrm rot="5400000">
            <a:off x="4803368" y="3668385"/>
            <a:ext cx="342683" cy="127644"/>
          </a:xfrm>
          <a:prstGeom prst="triangle">
            <a:avLst/>
          </a:prstGeom>
          <a:solidFill>
            <a:schemeClr val="tx1"/>
          </a:solidFill>
          <a:ln w="15875" cmpd="sng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93000"/>
              </a:lnSpc>
              <a:defRPr/>
            </a:pPr>
            <a:endParaRPr lang="en-US" sz="13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31" name="Rechteck 30"/>
          <p:cNvSpPr/>
          <p:nvPr/>
        </p:nvSpPr>
        <p:spPr>
          <a:xfrm>
            <a:off x="262975" y="5413660"/>
            <a:ext cx="4775557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300" i="1" dirty="0"/>
              <a:t>„</a:t>
            </a:r>
            <a:r>
              <a:rPr lang="en-US" sz="1300" i="1" dirty="0"/>
              <a:t>Software is eating the world</a:t>
            </a:r>
            <a:r>
              <a:rPr lang="de-DE" sz="1300" i="1" dirty="0"/>
              <a:t>.“</a:t>
            </a:r>
          </a:p>
          <a:p>
            <a:pPr algn="ctr"/>
            <a:r>
              <a:rPr lang="en-US" sz="1300" dirty="0"/>
              <a:t>Marc Andreessen, Co-founder und General Partner Andreessen Horowitz</a:t>
            </a:r>
            <a:r>
              <a:rPr lang="de-DE" sz="1300" dirty="0"/>
              <a:t>, 2011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798" y="1147423"/>
            <a:ext cx="48768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65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hteck 33"/>
          <p:cNvSpPr/>
          <p:nvPr/>
        </p:nvSpPr>
        <p:spPr>
          <a:xfrm>
            <a:off x="0" y="0"/>
            <a:ext cx="7580120" cy="6858000"/>
          </a:xfrm>
          <a:custGeom>
            <a:avLst/>
            <a:gdLst>
              <a:gd name="connsiteX0" fmla="*/ 0 w 7580120"/>
              <a:gd name="connsiteY0" fmla="*/ 0 h 6858000"/>
              <a:gd name="connsiteX1" fmla="*/ 7580120 w 7580120"/>
              <a:gd name="connsiteY1" fmla="*/ 0 h 6858000"/>
              <a:gd name="connsiteX2" fmla="*/ 7580120 w 7580120"/>
              <a:gd name="connsiteY2" fmla="*/ 6858000 h 6858000"/>
              <a:gd name="connsiteX3" fmla="*/ 0 w 7580120"/>
              <a:gd name="connsiteY3" fmla="*/ 6858000 h 6858000"/>
              <a:gd name="connsiteX4" fmla="*/ 0 w 7580120"/>
              <a:gd name="connsiteY4" fmla="*/ 0 h 6858000"/>
              <a:gd name="connsiteX0" fmla="*/ 0 w 7580120"/>
              <a:gd name="connsiteY0" fmla="*/ 0 h 6858000"/>
              <a:gd name="connsiteX1" fmla="*/ 7580120 w 7580120"/>
              <a:gd name="connsiteY1" fmla="*/ 0 h 6858000"/>
              <a:gd name="connsiteX2" fmla="*/ 5862415 w 7580120"/>
              <a:gd name="connsiteY2" fmla="*/ 6858000 h 6858000"/>
              <a:gd name="connsiteX3" fmla="*/ 0 w 7580120"/>
              <a:gd name="connsiteY3" fmla="*/ 6858000 h 6858000"/>
              <a:gd name="connsiteX4" fmla="*/ 0 w 758012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80120" h="6858000">
                <a:moveTo>
                  <a:pt x="0" y="0"/>
                </a:moveTo>
                <a:lnTo>
                  <a:pt x="7580120" y="0"/>
                </a:lnTo>
                <a:lnTo>
                  <a:pt x="586241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/>
          <p:cNvSpPr/>
          <p:nvPr/>
        </p:nvSpPr>
        <p:spPr>
          <a:xfrm>
            <a:off x="305704" y="2285899"/>
            <a:ext cx="4775557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i="1" dirty="0"/>
              <a:t>„</a:t>
            </a:r>
            <a:r>
              <a:rPr lang="en-US" sz="1600" i="1" dirty="0"/>
              <a:t>Software is eating the world</a:t>
            </a:r>
            <a:r>
              <a:rPr lang="de-DE" sz="1600" i="1" dirty="0" smtClean="0"/>
              <a:t>.“</a:t>
            </a:r>
          </a:p>
          <a:p>
            <a:pPr algn="ctr"/>
            <a:endParaRPr lang="de-DE" sz="1300" i="1" dirty="0"/>
          </a:p>
          <a:p>
            <a:pPr algn="ctr"/>
            <a:r>
              <a:rPr lang="en-US" sz="1300" dirty="0"/>
              <a:t>Marc Andreessen, </a:t>
            </a:r>
            <a:r>
              <a:rPr lang="en-US" sz="1300" dirty="0" smtClean="0"/>
              <a:t>Co-founder und</a:t>
            </a:r>
          </a:p>
          <a:p>
            <a:pPr algn="ctr"/>
            <a:r>
              <a:rPr lang="en-US" sz="1300" dirty="0" smtClean="0"/>
              <a:t>General </a:t>
            </a:r>
            <a:r>
              <a:rPr lang="en-US" sz="1300" dirty="0"/>
              <a:t>Partner Andreessen Horowitz</a:t>
            </a:r>
            <a:r>
              <a:rPr lang="de-DE" sz="1300" dirty="0"/>
              <a:t>, 2011</a:t>
            </a:r>
          </a:p>
        </p:txBody>
      </p:sp>
    </p:spTree>
    <p:extLst>
      <p:ext uri="{BB962C8B-B14F-4D97-AF65-F5344CB8AC3E}">
        <p14:creationId xmlns:p14="http://schemas.microsoft.com/office/powerpoint/2010/main" val="1351988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 bwMode="auto">
          <a:xfrm>
            <a:off x="521550" y="1556792"/>
            <a:ext cx="7992888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35000" tIns="135000" rIns="135000" bIns="135000" rtlCol="0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450"/>
              </a:spcAft>
              <a:buFont typeface="Wingdings" panose="05000000000000000000" pitchFamily="2" charset="2"/>
              <a:buChar char="ü"/>
            </a:pPr>
            <a:r>
              <a:rPr lang="de-DE" dirty="0">
                <a:solidFill>
                  <a:schemeClr val="bg1"/>
                </a:solidFill>
                <a:latin typeface="Calibri" pitchFamily="34" charset="0"/>
              </a:rPr>
              <a:t>Digitale Transformation ist wichtig für die </a:t>
            </a:r>
            <a:r>
              <a:rPr lang="de-DE" b="1" dirty="0">
                <a:solidFill>
                  <a:schemeClr val="bg1"/>
                </a:solidFill>
                <a:latin typeface="Calibri" pitchFamily="34" charset="0"/>
              </a:rPr>
              <a:t>fortbestehende Existenz </a:t>
            </a:r>
            <a:r>
              <a:rPr lang="de-DE" dirty="0">
                <a:solidFill>
                  <a:schemeClr val="bg1"/>
                </a:solidFill>
                <a:latin typeface="Calibri" pitchFamily="34" charset="0"/>
              </a:rPr>
              <a:t>von Unternehmen.</a:t>
            </a:r>
          </a:p>
          <a:p>
            <a:pPr marL="266700" indent="-266700">
              <a:lnSpc>
                <a:spcPct val="110000"/>
              </a:lnSpc>
              <a:spcAft>
                <a:spcPts val="450"/>
              </a:spcAft>
              <a:buFont typeface="Wingdings" panose="05000000000000000000" pitchFamily="2" charset="2"/>
              <a:buChar char="ü"/>
            </a:pPr>
            <a:r>
              <a:rPr lang="de-DE" dirty="0">
                <a:solidFill>
                  <a:schemeClr val="bg1"/>
                </a:solidFill>
                <a:latin typeface="Calibri" pitchFamily="34" charset="0"/>
              </a:rPr>
              <a:t>Die </a:t>
            </a:r>
            <a:r>
              <a:rPr lang="de-DE" b="1" dirty="0">
                <a:solidFill>
                  <a:schemeClr val="bg1"/>
                </a:solidFill>
                <a:latin typeface="Calibri" pitchFamily="34" charset="0"/>
              </a:rPr>
              <a:t>Tradition</a:t>
            </a:r>
            <a:r>
              <a:rPr lang="de-DE" dirty="0">
                <a:solidFill>
                  <a:schemeClr val="bg1"/>
                </a:solidFill>
                <a:latin typeface="Calibri" pitchFamily="34" charset="0"/>
              </a:rPr>
              <a:t> von Unternehmen </a:t>
            </a:r>
            <a:r>
              <a:rPr lang="de-DE" b="1" dirty="0">
                <a:solidFill>
                  <a:schemeClr val="bg1"/>
                </a:solidFill>
                <a:latin typeface="Calibri" pitchFamily="34" charset="0"/>
              </a:rPr>
              <a:t>reicht nicht aus</a:t>
            </a:r>
            <a:r>
              <a:rPr lang="de-DE" dirty="0">
                <a:solidFill>
                  <a:schemeClr val="bg1"/>
                </a:solidFill>
                <a:latin typeface="Calibri" pitchFamily="34" charset="0"/>
              </a:rPr>
              <a:t>, um ihr Fortbestehen zu sichern.</a:t>
            </a:r>
          </a:p>
          <a:p>
            <a:pPr marL="266700" indent="-266700">
              <a:lnSpc>
                <a:spcPct val="110000"/>
              </a:lnSpc>
              <a:spcAft>
                <a:spcPts val="450"/>
              </a:spcAft>
              <a:buFont typeface="Wingdings" panose="05000000000000000000" pitchFamily="2" charset="2"/>
              <a:buChar char="ü"/>
            </a:pPr>
            <a:r>
              <a:rPr lang="de-DE" dirty="0">
                <a:solidFill>
                  <a:schemeClr val="bg1"/>
                </a:solidFill>
                <a:latin typeface="Calibri" pitchFamily="34" charset="0"/>
              </a:rPr>
              <a:t>Die </a:t>
            </a:r>
            <a:r>
              <a:rPr lang="de-DE" b="1" dirty="0">
                <a:solidFill>
                  <a:schemeClr val="bg1"/>
                </a:solidFill>
                <a:latin typeface="Calibri" pitchFamily="34" charset="0"/>
              </a:rPr>
              <a:t>digitale Transformation </a:t>
            </a:r>
            <a:r>
              <a:rPr lang="de-DE" dirty="0">
                <a:solidFill>
                  <a:schemeClr val="bg1"/>
                </a:solidFill>
                <a:latin typeface="Calibri" pitchFamily="34" charset="0"/>
              </a:rPr>
              <a:t>bietet auch </a:t>
            </a:r>
            <a:r>
              <a:rPr lang="de-DE" b="1" dirty="0">
                <a:solidFill>
                  <a:schemeClr val="bg1"/>
                </a:solidFill>
                <a:latin typeface="Calibri" pitchFamily="34" charset="0"/>
              </a:rPr>
              <a:t>Chancen</a:t>
            </a:r>
            <a:r>
              <a:rPr lang="de-DE" dirty="0">
                <a:solidFill>
                  <a:schemeClr val="bg1"/>
                </a:solidFill>
                <a:latin typeface="Calibri" pitchFamily="34" charset="0"/>
              </a:rPr>
              <a:t>. Für die Nutzung dieser Chancen müssen die Unternehmen offen sein, um sich immer wieder neu zu erfinden.</a:t>
            </a:r>
            <a:endParaRPr lang="de-DE" sz="1800" dirty="0">
              <a:solidFill>
                <a:schemeClr val="bg1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9403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nOfTN2qo0yoQ.NDB.X9R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nOfTN2qo0yoQ.NDB.X9R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nOfTN2qo0yoQ.NDB.X9R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nOfTN2qo0yoQ.NDB.X9RA"/>
</p:tagLst>
</file>

<file path=ppt/theme/theme1.xml><?xml version="1.0" encoding="utf-8"?>
<a:theme xmlns:a="http://schemas.openxmlformats.org/drawingml/2006/main" name="Larissa">
  <a:themeElements>
    <a:clrScheme name="ISM-Farben">
      <a:dk1>
        <a:srgbClr val="002750"/>
      </a:dk1>
      <a:lt1>
        <a:srgbClr val="FFFFFF"/>
      </a:lt1>
      <a:dk2>
        <a:srgbClr val="C2DFFF"/>
      </a:dk2>
      <a:lt2>
        <a:srgbClr val="0953A1"/>
      </a:lt2>
      <a:accent1>
        <a:srgbClr val="EDF6FF"/>
      </a:accent1>
      <a:accent2>
        <a:srgbClr val="F59E00"/>
      </a:accent2>
      <a:accent3>
        <a:srgbClr val="F9BD4D"/>
      </a:accent3>
      <a:accent4>
        <a:srgbClr val="FFE7BA"/>
      </a:accent4>
      <a:accent5>
        <a:srgbClr val="9697A6"/>
      </a:accent5>
      <a:accent6>
        <a:srgbClr val="ECEDEF"/>
      </a:accent6>
      <a:hlink>
        <a:srgbClr val="B3B3BF"/>
      </a:hlink>
      <a:folHlink>
        <a:srgbClr val="DDDEE3"/>
      </a:folHlink>
    </a:clrScheme>
    <a:fontScheme name="ISM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olienmaster final">
  <a:themeElements>
    <a:clrScheme name="Benutzerdefiniert 1">
      <a:dk1>
        <a:srgbClr val="000000"/>
      </a:dk1>
      <a:lt1>
        <a:srgbClr val="FFFFFF"/>
      </a:lt1>
      <a:dk2>
        <a:srgbClr val="9697A6"/>
      </a:dk2>
      <a:lt2>
        <a:srgbClr val="FFFFFF"/>
      </a:lt2>
      <a:accent1>
        <a:srgbClr val="002750"/>
      </a:accent1>
      <a:accent2>
        <a:srgbClr val="F59E00"/>
      </a:accent2>
      <a:accent3>
        <a:srgbClr val="EE3D96"/>
      </a:accent3>
      <a:accent4>
        <a:srgbClr val="969698"/>
      </a:accent4>
      <a:accent5>
        <a:srgbClr val="039094"/>
      </a:accent5>
      <a:accent6>
        <a:srgbClr val="FFFF66"/>
      </a:accent6>
      <a:hlink>
        <a:srgbClr val="000000"/>
      </a:hlink>
      <a:folHlink>
        <a:srgbClr val="000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tx1"/>
          </a:solidFill>
        </a:ln>
      </a:spPr>
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wrap="square" lIns="180000" tIns="180000" rIns="180000" bIns="180000">
        <a:noAutofit/>
      </a:bodyPr>
      <a:lstStyle>
        <a:defPPr marL="0">
          <a:lnSpc>
            <a:spcPct val="110000"/>
          </a:lnSpc>
          <a:spcAft>
            <a:spcPts val="600"/>
          </a:spcAft>
          <a:defRPr sz="1800" dirty="0" smtClean="0">
            <a:latin typeface="Calibri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</Words>
  <Application>Microsoft Office PowerPoint</Application>
  <PresentationFormat>Bildschirmpräsentation (4:3)</PresentationFormat>
  <Paragraphs>37</Paragraphs>
  <Slides>8</Slides>
  <Notes>3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6" baseType="lpstr">
      <vt:lpstr>Arial</vt:lpstr>
      <vt:lpstr>Calibri</vt:lpstr>
      <vt:lpstr>Segoe UI</vt:lpstr>
      <vt:lpstr>Symbol</vt:lpstr>
      <vt:lpstr>Wingdings</vt:lpstr>
      <vt:lpstr>Larissa</vt:lpstr>
      <vt:lpstr>Folienmaster final</vt:lpstr>
      <vt:lpstr>think-cell Folie</vt:lpstr>
      <vt:lpstr>PowerPoint-Präsentation</vt:lpstr>
      <vt:lpstr>PowerPoint-Präsentation</vt:lpstr>
      <vt:lpstr>PowerPoint-Präsentation</vt:lpstr>
      <vt:lpstr>Die Transformation der Fotografie </vt:lpstr>
      <vt:lpstr>PowerPoint-Präsentation</vt:lpstr>
      <vt:lpstr>Die digitale Transformation bietet auch Chancen Das Beispiel CEWE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"Sendfeld, Eva"</dc:creator>
  <cp:lastModifiedBy>Magdalena Geißel</cp:lastModifiedBy>
  <cp:revision>452</cp:revision>
  <cp:lastPrinted>2015-06-11T14:14:40Z</cp:lastPrinted>
  <dcterms:created xsi:type="dcterms:W3CDTF">2015-01-23T11:00:08Z</dcterms:created>
  <dcterms:modified xsi:type="dcterms:W3CDTF">2022-01-07T22:55:11Z</dcterms:modified>
</cp:coreProperties>
</file>